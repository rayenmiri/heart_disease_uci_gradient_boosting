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64008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de Maladies Cardiaques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Gradient Boosting, Naive Bayes et Régression Logistique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822960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Machine Learning  —  Dataset UCI Heart Disease (Cleveland)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rigoureuse de 3 modèles pour le dépistage cardiaque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40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38404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840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8404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840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— Apprentissage Automatique &amp; Intelligence Artificielle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868680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68680"/>
            <a:ext cx="109728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Cadre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médical, question de recherche, objectifs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868680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868680"/>
            <a:ext cx="109728" cy="1188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914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&amp; Préparation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6276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UCI, variables cliniques, prétraitement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44768" y="868680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4768" y="868680"/>
            <a:ext cx="109728" cy="118872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914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A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Théorie des Modèles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6276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LogReg, Naive Bayes, Gradient Boosting + formules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1168" y="2194560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2194560"/>
            <a:ext cx="109728" cy="1188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2402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5760" y="26243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Fondations Arbres &amp; Boosting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29535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ID3/C4.5/CART, Random Forest vs GB, XGBoost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72968" y="2194560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2194560"/>
            <a:ext cx="109728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2402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37560" y="26243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Protocole &amp; Métriques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29535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stratifiée, ROC-AUC, Recall, Brier score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44768" y="2194560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2194560"/>
            <a:ext cx="109728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2402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09360" y="26243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Validation Croisée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29535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CV, analyse des gaps, surapprentissage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01168" y="3520440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1168" y="3520440"/>
            <a:ext cx="109728" cy="1188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661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65760" y="3950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Jeu de Test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2793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confusion, courbes ROC, erreurs FN/FP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72968" y="3520440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72968" y="3520440"/>
            <a:ext cx="109728" cy="118872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37560" y="35661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A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337560" y="3950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Critique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37560" y="42793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Calibration, courbes d'apprentissage, limites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44768" y="3520440"/>
            <a:ext cx="27889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44768" y="3520440"/>
            <a:ext cx="109728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5661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309360" y="39502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09360" y="42793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cliniques, axes d'amélioration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560320" y="14630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A — Introduction &amp; Cadre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0" y="26517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médical, question de recherche et objectifs mesurables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Médical et Enjeux du Dépistage Cardiaque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2194560" cy="2011680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144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17,9M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décès / 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0299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(OMS, maladies cardiovasculaires = 1ère cause mondiale)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841248"/>
            <a:ext cx="6309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8920" y="89611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le Machine Learning pour le dépistage 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88920" y="1261872"/>
            <a:ext cx="5943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dépistage précoce réduit significativement la mortalité cardiovasculaire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cliniques (ECG, biologie, historique) sont hétérogènes et multidimensionnelles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relations entre variables sont souvent non-linéaires → difficiles à modéliser manuellement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ML permet de capturer ces patterns complexes et d'aider la décision médicale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2971800"/>
            <a:ext cx="4206240" cy="182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035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Asymétrie des coûts d'erreur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401568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Négatif (FN) 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malade NON détecté → risque vital direct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 (FP) 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sain classé malade → examens supplémentaires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(coût modéré, non vital)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2971800"/>
            <a:ext cx="4297680" cy="1828800"/>
          </a:xfrm>
          <a:prstGeom prst="rect">
            <a:avLst/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0358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Conséquence pour la modélisation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401568"/>
            <a:ext cx="4023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dépistage, minimiser les FN est prioritaire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clé : </a:t>
            </a:r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(Sensibilité = VP / (VP + FN))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pour la discrimination globale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de Recherche et Scénarios d'Usage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1097280"/>
          </a:xfrm>
          <a:prstGeom prst="rect">
            <a:avLst/>
          </a:prstGeom>
          <a:solidFill>
            <a:srgbClr val="EEF4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"Quel modèle offre le meilleur compromis entre discrimination globale (ROC-AUC)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capacité de détection (Recall) pour un usage clinique de dépistage cardiaque ?"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2103120"/>
            <a:ext cx="4206240" cy="2697480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103120"/>
            <a:ext cx="420624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03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1 — Dépistage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minimiser les Faux Négatifs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principale : Recall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plus de FP pour ne rater aucun malade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consultation de 1er niveau, tri rapide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attendu : Naive Bayes (Recall = 0.857)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2103120"/>
            <a:ext cx="4206240" cy="2697480"/>
          </a:xfrm>
          <a:prstGeom prst="rect">
            <a:avLst/>
          </a:prstGeom>
          <a:solidFill>
            <a:srgbClr val="F0F7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2103120"/>
            <a:ext cx="4206240" cy="43891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03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2 — Compromis Global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578608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discrimination + interprétabilité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principale : ROC-AUC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la décision au clinicien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interprétables par direction +/-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attendu : Régression Logistique (AUC = 0.950)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Mesurables de l'Étude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502920" cy="7132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686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9235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Battre la Baseline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234440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Surpasser un Dummy Classifier (most_frequent) sur toutes les métriques pertinentes (Accuracy, Recall, ROC-AUC)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664208"/>
            <a:ext cx="502920" cy="713232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66420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Évaluation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029968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modèles sur Validation Croisée 5-fold stratifiée ET sur un jeu de test hold-out indépendant (80/20)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459736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459736"/>
            <a:ext cx="502920" cy="71323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45973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Diagnostiquer le Surapprentissage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825496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 CV gap et les learning curves pour détecter la mémorisation vs. la généralisation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255264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255264"/>
            <a:ext cx="50292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25526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310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&amp; Seuil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621024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la calibration des probabilités (Brier score) et explorer l'optimisation du seuil de décision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4050792"/>
            <a:ext cx="8686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4050792"/>
            <a:ext cx="50292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05079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105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 Clinique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4416552"/>
            <a:ext cx="7955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une recommandation justifiée, nuancée, reliée aux preuves numériques et graphiques du notebook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560320" y="14630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B — Données &amp; Préparation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0" y="26517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UCI, variables cliniques, nettoyage, split et standardisation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: Vue d'Ensemble — UCI Cleveland Heart Disease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41248"/>
            <a:ext cx="2011680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9611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28600" y="1536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totales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792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(→ 297 après nettoyage)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841248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841248"/>
            <a:ext cx="2011680" cy="109728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89611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423160" y="1536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1792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features + 1 cible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841248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841248"/>
            <a:ext cx="2011680" cy="109728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89611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A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617720" y="1536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originales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1792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(sain) à 4 (sévère)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12280" y="841248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841248"/>
            <a:ext cx="201168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89611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812280" y="15361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finales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1792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Binarisation : 0 / 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331720"/>
            <a:ext cx="42062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23957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Binarisation de la Cible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743200"/>
            <a:ext cx="3931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originale : </a:t>
            </a:r>
            <a:pPr indent="0" marL="0">
              <a:buNone/>
            </a:pPr>
            <a:r>
              <a:rPr lang="en-US" sz="120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∈ {0,1,2,3,4}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0 = absence de maladie cardiaque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Binarisation : </a:t>
            </a:r>
            <a:pPr indent="0" marL="0">
              <a:buNone/>
            </a:pPr>
            <a:r>
              <a:rPr lang="en-US" sz="1200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target_bin = 1 si target &gt; 0, sinon 0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finale : 54% absence (0)  /  46% présence (1)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Dataset relativement équilibré : Accuracy interprétable mais Recall reste clé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7720" y="2331720"/>
            <a:ext cx="429768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23957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et Split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2743200"/>
            <a:ext cx="4023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UCI Machine Learning Repository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Train/Test : 80% / 20% stratifié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pour reproductibilité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: 237 exemples | Test : 60 exemples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Stratification : ~54%/46% préservée dans les deux ensembles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: 60 observations test → estimations sujettes à variabilité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Cliniques — Features du Dataset (1/2)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41248"/>
            <a:ext cx="4206240" cy="40233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Continues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822960" cy="347472"/>
          </a:xfrm>
          <a:prstGeom prst="rect">
            <a:avLst/>
          </a:prstGeom>
          <a:solidFill>
            <a:srgbClr val="EEF4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716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3716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du patient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1554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Années — plage : 29-77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29968"/>
            <a:ext cx="822960" cy="347472"/>
          </a:xfrm>
          <a:prstGeom prst="rect">
            <a:avLst/>
          </a:prstGeom>
          <a:solidFill>
            <a:srgbClr val="EEF4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299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trestbps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0299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artérielle au repos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212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Hg — mesurée à l'admission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88336"/>
            <a:ext cx="822960" cy="347472"/>
          </a:xfrm>
          <a:prstGeom prst="rect">
            <a:avLst/>
          </a:prstGeom>
          <a:solidFill>
            <a:srgbClr val="EEF4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883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6883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Cholestérol sérique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28712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 — valeur biochimique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46704"/>
            <a:ext cx="822960" cy="347472"/>
          </a:xfrm>
          <a:prstGeom prst="rect">
            <a:avLst/>
          </a:prstGeom>
          <a:solidFill>
            <a:srgbClr val="EEF4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467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thalach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3467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cardiaque maximale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35295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Battements/min lors de l'effort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005072"/>
            <a:ext cx="822960" cy="347472"/>
          </a:xfrm>
          <a:prstGeom prst="rect">
            <a:avLst/>
          </a:prstGeom>
          <a:solidFill>
            <a:srgbClr val="EEF4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050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oldpeak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40050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Dépression 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1879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Induite par l'exercice vs repos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841248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841248"/>
            <a:ext cx="4297680" cy="402336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84124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Binaires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1371600"/>
            <a:ext cx="82296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3716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1371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 du patient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15544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1=Homme, 0=Femme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029968"/>
            <a:ext cx="82296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02996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77840" y="2029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Glycémie à jeun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2212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1=Oui si &gt;120 mg/dl, 0=Non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688336"/>
            <a:ext cx="82296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6883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77840" y="2688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Angine à l'effort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77840" y="28712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1=Présente, 0=Absente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3310128"/>
            <a:ext cx="40233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Les variables binaires encodent déjà un oui/non clinique. Elles n'ont pas besoin de standardisation pour Gradient Boosting (invariant à l'échelle), mais le sont pour Naive Bayes et Régression Logistique.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Cliniques — Features du Dataset (2/2)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41248"/>
            <a:ext cx="8686800" cy="402336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Catégorielles / Discrètes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" y="1298448"/>
            <a:ext cx="731520" cy="29260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2984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A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5568" y="12984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douleur thoracique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29844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1=Angor typique | 2=Angor atypique | 3=Douleur non-anginale | 4=Asymptomatique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" y="1719072"/>
            <a:ext cx="731520" cy="29260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7190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A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restecg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" y="17190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ECG au repos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17190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0=Normal | 1=Anomalie onde ST-T | 2=Hypertrophie ventriculaire gauche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2139696"/>
            <a:ext cx="731520" cy="29260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13969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A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5568" y="21396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 du segment 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13969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1=Ascendante | 2=Plate | 3=Descendante (à l'effort)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" y="2560320"/>
            <a:ext cx="731520" cy="29260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560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A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" y="2560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Vaisseaux colorés fluoroscopie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2560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à 3 — nombre de vaisseaux principaux colorés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2608" y="2980944"/>
            <a:ext cx="731520" cy="29260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29809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A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" y="2980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Thalassémie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298094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3=Normal | 6=Défaut fixe | 7=Défaut réversible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3657600"/>
            <a:ext cx="4206240" cy="11887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3730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Valeurs Manquantes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06908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: 4 NaN  |  thal : 2 NaN  →  ~2% du dataset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: pd.to_numeric() + dropna()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303 → 297 lignes conservées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3657600"/>
            <a:ext cx="4297680" cy="1188720"/>
          </a:xfrm>
          <a:prstGeom prst="rect">
            <a:avLst/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37307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Justification du Nettoyage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406908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lignes supprimées = impact négligeable (&lt;2%)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simple, transparente, reproductible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imputation nécessaire (peu de NaN)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Standardisation Z-Score et Prévention du Data Leakage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1005840"/>
          </a:xfrm>
          <a:prstGeom prst="rect">
            <a:avLst/>
          </a:prstGeom>
          <a:solidFill>
            <a:srgbClr val="EEF4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961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Formule de Standardisation (Z-Score) 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8961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z_i = (x_i - μ) / 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40880" y="89611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moyenne train, σ = écart-type train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993392"/>
            <a:ext cx="8686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Explication des Paramètres 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39572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z_i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valeur standardisée de l'observation i (sans unité, centrée, réduite)   |   </a:t>
            </a:r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x_i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valeur originale   |   </a:t>
            </a:r>
            <a:pPr indent="0" marL="0">
              <a:buNone/>
            </a:pPr>
            <a:r>
              <a:rPr lang="en-US" sz="14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moyenne estimée sur le TRAIN uniquement   |   </a:t>
            </a:r>
            <a:pPr indent="0" marL="0">
              <a:buNone/>
            </a:pPr>
            <a:r>
              <a:rPr lang="en-US" sz="14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écart-type estimé sur le TRAIN uniquement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3264408"/>
            <a:ext cx="28163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264408"/>
            <a:ext cx="2816352" cy="32918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26440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Appliquée 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62102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Régression Logistique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950208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coefficients β sont comparables entre features → essentiel pour l'interprétation et la convergence de l'optimiseur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18688" y="3264408"/>
            <a:ext cx="28163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3264408"/>
            <a:ext cx="2816352" cy="3291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326440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appliquée 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362102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3950208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arbres de décision comparent des seuils (feature_i &gt; threshold) et non des magnitudes inter-features → invariants à l'échelle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08776" y="3264408"/>
            <a:ext cx="28163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08776" y="3264408"/>
            <a:ext cx="2816352" cy="329184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326440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0216" y="362102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sklearn.Pipeline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0216" y="3950208"/>
            <a:ext cx="2633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Empêche le data leakage : μ et σ sont estimés uniquement sur le train, puis appliqués au test sans voir les données test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Corrélations Exploratoires — Coefficient de Pearson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1371600"/>
          </a:xfrm>
          <a:prstGeom prst="rect">
            <a:avLst/>
          </a:prstGeom>
          <a:solidFill>
            <a:srgbClr val="EEF4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Coefficient de Corrélation de Pearson (r_xy) 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r_xy  =  Σ(xi - x̄)(yi - ȳ)  /  √[ Σ(xi - x̄)²  ×  Σ(yi - ȳ)² 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" y="2395728"/>
            <a:ext cx="4206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468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Paramètres de la Formule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x_i, y_i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valeurs des observations i pour deux variables x et y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x̄, ȳ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moyennes des variables x et y sur n observations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r ∈ [-1, 1]  →  -1=corrélation négative parfaite, 0=aucune relation linéaire, +1=positive parfaite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Attention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Pearson ne mesure QUE les corrélations LINÉAIRES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2395728"/>
            <a:ext cx="4297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24688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Corrélées à la Cible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81728" y="2852928"/>
            <a:ext cx="64008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8529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94960" y="2852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Thalassémie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23760" y="2852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forte positive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81728" y="3218688"/>
            <a:ext cx="64008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32186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94960" y="3218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douleur thoracique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23760" y="3218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 clinique majeur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81728" y="3584448"/>
            <a:ext cx="64008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35844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94960" y="3584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Vaisseaux fluoroscopie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3584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Marqueur d'atteinte coronaire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81728" y="3950208"/>
            <a:ext cx="64008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9502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94960" y="3950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Angine effort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3950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direct de pathologie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81728" y="4315968"/>
            <a:ext cx="64008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43159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oldpeak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94960" y="4315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Dépression 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4315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ECG à l'effort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81728" y="4681728"/>
            <a:ext cx="640080" cy="274320"/>
          </a:xfrm>
          <a:prstGeom prst="rect">
            <a:avLst/>
          </a:prstGeom>
          <a:solidFill>
            <a:srgbClr val="EEF4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46817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thalach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94960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maximale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23760" y="4681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= signe cardiaque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54880" y="46451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9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Relations non-linéaires possibles → justifie l'usage du Gradient Boosting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560320" y="14630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C — Théorie des Modèles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0" y="26517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Logistique, Naive Bayes, Gradient Boosting — formules &amp; hyperparamètres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: Dummy Classifier — Référence Minimale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987552"/>
          </a:xfrm>
          <a:prstGeom prst="rect">
            <a:avLst/>
          </a:prstGeom>
          <a:solidFill>
            <a:srgbClr val="FFF0F0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44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Stratégie most_frequent : ŷ_i = mode(y_train) pour tout 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196596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965960"/>
            <a:ext cx="201168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084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24140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28600" y="28712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classe 0 (absence)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23160" y="196596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965960"/>
            <a:ext cx="201168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2084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24140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423160" y="28712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détecte aucun positif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196596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965960"/>
            <a:ext cx="2011680" cy="91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084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24140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N/A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17720" y="28712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positif prédit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12280" y="1965960"/>
            <a:ext cx="2011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965960"/>
            <a:ext cx="201168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2084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2280" y="24140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812280" y="28712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Équivalent à un classifieur aléatoire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3456432"/>
            <a:ext cx="8686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520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Rôle et Utilité de la Baseline 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388620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modèle utile doit surpasser cette baseline sur toutes les métriques pertinentes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avec Accuracy 60% semble bon jusqu'à ce qu'on réalise que 54% est atteignable sans apprentissage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baseline révèle le plancher trivial et évite les conclusions trop optimistes sur des datasets déséquilibrés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 — Principe et Fonction Sigmoïde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206240" cy="1783080"/>
          </a:xfrm>
          <a:prstGeom prst="rect">
            <a:avLst/>
          </a:prstGeom>
          <a:solidFill>
            <a:srgbClr val="EEF4FF"/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96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Combinaison Linéaire 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β₀ + β₁x₁ + β₂x₂ + ... + βₚxₚ  =  βᵀx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 = biais (intercept)  |  β₁...βₚ = poids des features  |  x = vecteur des features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97680" cy="1783080"/>
          </a:xfrm>
          <a:prstGeom prst="rect">
            <a:avLst/>
          </a:prstGeom>
          <a:solidFill>
            <a:srgbClr val="EEF4FF"/>
          </a:solidFill>
          <a:ln w="1905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8961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 Sigmoïde (Logistique) 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P(y=1|x) = σ(z) = 1 / (1 + e^{-z})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682496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le score linéaire z ∈ (-∞,+∞) en probabilité P ∈ [0,1]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interprétable comme probabilité d'appartenir à la classe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743200"/>
            <a:ext cx="26334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" y="2743200"/>
            <a:ext cx="64008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→ -∞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" y="3154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→ 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8163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Certitude classe 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63240" y="2743200"/>
            <a:ext cx="26334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081528" y="2743200"/>
            <a:ext cx="640080" cy="82296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81528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81528" y="3154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94760" y="28163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naturel d'indécision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2743200"/>
            <a:ext cx="263347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16168" y="2743200"/>
            <a:ext cx="64008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16168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→ +∞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16168" y="3154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→ 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28163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Certitude classe 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3730752"/>
            <a:ext cx="8686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3794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 de Décision 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1605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P(y=1|x) ≥ seuil (défaut = 0.5)  →  ŷ = 1 (malade)   |   Sinon  →  ŷ = 0 (sain)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 — Fonction de Coût et Régularisation L2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1234440"/>
          </a:xfrm>
          <a:prstGeom prst="rect">
            <a:avLst/>
          </a:prstGeom>
          <a:solidFill>
            <a:srgbClr val="EEF4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 de Coût — Log-Loss / Entropie Croisée Binaire 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J(β) = -(1/n) Σ [ yᵢ·log(p̂ᵢ) + (1-yᵢ)·log(1-p̂ᵢ) 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" y="2240280"/>
            <a:ext cx="4206240" cy="141732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304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Régularisation L2 (Ridge) — utilisée dans notre notebook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J_reg(β) = J(β) + (1/2C) Σ βⱼ²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14553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inverse de la force de régularisation (penalty='l2', C=1.0)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240280"/>
            <a:ext cx="4297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3042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Explication des Paramètres de J(β) 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65176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nombre d'observations d'entraînement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yᵢ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vraie étiquette (0 ou 1)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p̂ᵢ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probabilité prédite par le modèle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C=1.0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défaut sklearn — compromis flexibilité / régularisation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794760"/>
            <a:ext cx="8686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8587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Rôle de la Régularisation L2 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1879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Pénalise les coefficients βⱼ trop grands → empêche que quelques features dominent  |  Réduit le surapprentissage  |  Le terme (1/2C)Σβⱼ² force les poids vers zéro sans les annuler (contrairement à L1)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 — Théorème de Bayes et Hypothèse d'Indépendance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206240" cy="1097280"/>
          </a:xfrm>
          <a:prstGeom prst="rect">
            <a:avLst/>
          </a:prstGeom>
          <a:solidFill>
            <a:srgbClr val="ECFDF5"/>
          </a:solidFill>
          <a:ln w="25400">
            <a:solidFill>
              <a:srgbClr val="0E9F8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Théorème de Bayes 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P(y=c|x) = P(x|y=c)·P(y=c) / P(x)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× vraisemblance / évidence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97680" cy="1097280"/>
          </a:xfrm>
          <a:prstGeom prst="rect">
            <a:avLst/>
          </a:prstGeom>
          <a:solidFill>
            <a:srgbClr val="ECFDF5"/>
          </a:solidFill>
          <a:ln w="25400">
            <a:solidFill>
              <a:srgbClr val="0E9F8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8961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 Naïve d'Indépendance 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1430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P(x|y=c) = Π P(xⱼ|y=c)  pour j=1..p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6276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feature est supposée indépendante conditionnellement à la classe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084832"/>
            <a:ext cx="8686800" cy="1170432"/>
          </a:xfrm>
          <a:prstGeom prst="rect">
            <a:avLst/>
          </a:prstGeom>
          <a:solidFill>
            <a:srgbClr val="F0FDFA"/>
          </a:solidFill>
          <a:ln w="19050">
            <a:solidFill>
              <a:srgbClr val="0E9F8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148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Gaussien — Densité de probabilité pour feature continue xⱼ 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450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P(xⱼ|y=c) = (1/√(2π·σ²_jc)) · exp(-(xⱼ-μ_jc)² / 2σ²_jc)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28600" y="3401568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4655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Paramètres de la Densité Gaussienne 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79476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μ_jc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moyenne de la feature j pour la classe c (estimée sur le train)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σ²_jc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variance de la feature j pour la classe c (estimée sur le train)
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var_smoothing=1e-9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ajoute ε·max(σ²) pour éviter les divisions par zéro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401568"/>
            <a:ext cx="4297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46557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 de Décision Finale 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7947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argmax_c  P(y=c) · Π P(xⱼ|y=c)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427939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c qui maximise la probabilité a posteriori (MAP).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L'hypothèse d'indépendance est VIOLÉE en pratique (variables corrélées), mais NB reste compétitif → confirmé sur ce dataset.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— Principe Itératif et Mise à Jour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73152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961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Modèle additif séquentiel : F_M(x) = F₀(x) + Σ η·hₘ(x)  pour m=1..M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Algorithme itératif 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2084832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2084832"/>
            <a:ext cx="320040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084832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1396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Initialisation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4140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F₀(x) = argmin_γ Σ L(yᵢ, γ)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77840" y="217627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qui minimise la perte sur les données d'entraînement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816352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816352"/>
            <a:ext cx="320040" cy="658368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816352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28712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Pseudo-Résidus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1455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rᵢₘ = -∂L(yᵢ, Fₘ₋₁(xᵢ)) / ∂Fₘ₋₁(xᵢ)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77840" y="290779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négatif = erreur résiduelle = ce qu'il reste à apprendre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547872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547872"/>
            <a:ext cx="320040" cy="658368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547872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602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A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Entraîner hₘ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8770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A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hₘ(x) ajusté sur les pseudo-résidus rᵢₘ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77840" y="36393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faible (weak learner) qui apprend la correction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4279392"/>
            <a:ext cx="8686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4279392"/>
            <a:ext cx="32004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4279392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4334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à Jour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6085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Fₘ(x) = Fₘ₋₁(x) + η·hₘ(x)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77840" y="437083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learning rate, contrôle la contribution de chaque arbre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— Fonction de Perte et Régularisation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206240" cy="182880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96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 de Perte — Déviance (Log-Loss) 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L(y,F(x)) = -[y·log(p) + (1-y)·log(1-p)]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p = σ(F(x)) = 1 / (1 + e^{-F(x)})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Pseudo-résidus = rᵢ = yᵢ - pᵢ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(différence entre l'étiquette vraie et la probabilité prédite)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arbre apprend à réduire cette erreur résiduelle.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97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8961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Hyperparamètres de Régularisation 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1728" y="1243584"/>
            <a:ext cx="960120" cy="25603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2435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η = 0.05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15000" y="12435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95160" y="1243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Réduit la contribution de chaque arbre → apprentissage lent mais robuste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81728" y="1563624"/>
            <a:ext cx="960120" cy="25603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5636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200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15000" y="15636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95160" y="1563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total d'arbres. Budget : η×M = 10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81728" y="1883664"/>
            <a:ext cx="960120" cy="25603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188366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max_depth=3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15000" y="18836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Apprenants faibles → moins de mémorisation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81728" y="2203704"/>
            <a:ext cx="960120" cy="25603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22037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min_samples_leaf=5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15000" y="22037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feuille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2203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feuille ≥ 5 exemples → régularisation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81728" y="2523744"/>
            <a:ext cx="960120" cy="25603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25237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subsample=0.9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15000" y="25237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stochasticité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2523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du train par arbre → bagging-like variance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834640"/>
            <a:ext cx="8686800" cy="1938528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2907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Risque sur Petit Dataset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3255264"/>
            <a:ext cx="82296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les 3 mécanismes de régularisation, GB peut mémoriser le train sur petit jeu (237 exemples)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Observé : Train AUC = 1.000 → mémorisation complète des données d'entraînement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effective ∝ η × M = 0.05 × 200 = 10  (budget modéré mais modèle puissant)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implémenté : tuning via GridSearchCV/RandomizedSearchCV qui pourrait réduire le surapprentissage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Théorique des 3 Modèles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2121408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" y="8412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Propriété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841248"/>
            <a:ext cx="2029968" cy="40233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9464" y="841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2029968" cy="402336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841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12280" y="841248"/>
            <a:ext cx="2029968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67144" y="8412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1316736"/>
            <a:ext cx="2121408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" y="1353312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de modèle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14600" y="1316736"/>
            <a:ext cx="2029968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7752" y="135331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 discriminant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1316736"/>
            <a:ext cx="2029968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35331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Probabiliste génératif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316736"/>
            <a:ext cx="2029968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135331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non-linéaire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1828800"/>
            <a:ext cx="2121408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186537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Interprétabilité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14600" y="1828800"/>
            <a:ext cx="20299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186537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 Forte (coeff. βⱼ)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1828800"/>
            <a:ext cx="20299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186537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 Moyenne (log-prob)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12280" y="1828800"/>
            <a:ext cx="20299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85432" y="186537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Faible (boîte noire)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2340864"/>
            <a:ext cx="2121408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" y="237744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surapprentissage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14600" y="2340864"/>
            <a:ext cx="2029968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87752" y="237744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(régul. L2)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2340864"/>
            <a:ext cx="2029968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237744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faible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12280" y="2340864"/>
            <a:ext cx="2029968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85432" y="2377440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 (surtout &lt;300 obs.)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2852928"/>
            <a:ext cx="2121408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2889504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Sensibilité à l'échelle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14600" y="2852928"/>
            <a:ext cx="20299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87752" y="288950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StandardScaler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2852928"/>
            <a:ext cx="20299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90872" y="288950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StandardScaler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12280" y="2852928"/>
            <a:ext cx="20299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85432" y="2889504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→ invariant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3364992"/>
            <a:ext cx="2121408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340156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 clé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14600" y="3364992"/>
            <a:ext cx="2029968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87752" y="34015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linéaire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3364992"/>
            <a:ext cx="2029968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90872" y="34015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Indépendance conditionnelle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12280" y="3364992"/>
            <a:ext cx="2029968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85432" y="3401568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hypothèse forte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3877056"/>
            <a:ext cx="2121408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" y="3913632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Complexité temporelle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514600" y="3877056"/>
            <a:ext cx="20299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87752" y="391363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O(n·p)  Faible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17720" y="3877056"/>
            <a:ext cx="20299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90872" y="391363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O(n·p)  Faible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12280" y="3877056"/>
            <a:ext cx="202996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85432" y="3913632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O(M·n·p·d)  Élevée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28600" y="4389120"/>
            <a:ext cx="2121408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1752" y="442569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proba.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514600" y="4389120"/>
            <a:ext cx="2029968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87752" y="442569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 Très bonne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617720" y="4389120"/>
            <a:ext cx="2029968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90872" y="442569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 Bonne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812280" y="4389120"/>
            <a:ext cx="2029968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85432" y="4425696"/>
            <a:ext cx="1901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Moins bonne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20040" y="48920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E9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Diversité des approches : 3 modèles aux fondations différentes pour une comparaison rigoureuse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560320" y="14630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D — Fondations : Arbres, Boosting &amp; XGBoost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0" y="26517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ID3, C4.5, CART — Random Forest vs Gradient Boosting — XGBoost (extension théorique)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ID3 / C4.5 / CART — Fondations des Arbres de Décision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281635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41248"/>
            <a:ext cx="2816352" cy="40233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Dichotomiser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 : Information Gain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901952"/>
            <a:ext cx="2633472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3852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H(Y) = -Σ pₖ·log₂(pₖ)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28600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 = H(Y) - Σ |Dᵥ|/|D|·H(Y|X=v)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779776"/>
            <a:ext cx="2633472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rapide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 historique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multi-valeurs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n-aires uniquement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gestion variables continues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63824" y="841248"/>
            <a:ext cx="281635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63824" y="841248"/>
            <a:ext cx="2816352" cy="402336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84124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C4.5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55264" y="128016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de ID3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55264" y="16276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 : Gain Ratio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55264" y="1901952"/>
            <a:ext cx="2633472" cy="822960"/>
          </a:xfrm>
          <a:prstGeom prst="rect">
            <a:avLst/>
          </a:prstGeom>
          <a:solidFill>
            <a:srgbClr val="F0FDFA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6704" y="19385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 = IG(Y,X) / SplitInfo(X)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46704" y="228600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SplitInfo = -Σ |Dᵥ|/|D|·log₂|Dᵥ|/|D|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55264" y="2779776"/>
            <a:ext cx="2633472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biais multi-valeurs de ID3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variables continues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Élagage par erreur pessimiste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Arbres n-aires (difficiles à lire)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lent que CART sur grands datasets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99048" y="841248"/>
            <a:ext cx="281635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99048" y="841248"/>
            <a:ext cx="2816352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0488" y="841248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90488" y="128016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scikit-learn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0488" y="16276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 : Indice de Gini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0488" y="1901952"/>
            <a:ext cx="2633472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196596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Gini(t) = 1 - Σ p(k|t)²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81928" y="230428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Splits binaires uniquement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Minimise l'impureté de Gini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90488" y="2779776"/>
            <a:ext cx="2633472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binaires → arbres lisibles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+ catégorielle + régression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du Gradient Boosting sklearn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au surapprentissage seul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Doit être régularisé (depth, min_leaf)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Équation de Split — Réduction d'Impureté et Probabilité en Feuille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206240" cy="1481328"/>
          </a:xfrm>
          <a:prstGeom prst="rect">
            <a:avLst/>
          </a:prstGeom>
          <a:solidFill>
            <a:srgbClr val="EEF4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96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Réduction d'Impureté par un Split 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ΔI(s,t) = I(t) - (N_L/N_t)·I(t_L) - (N_R/N_t)·I(t_R)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noeud parent  |  </a:t>
            </a:r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t_L, t_R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fils gauche/droit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N_L, N_R 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nb d'exemples dans chaque fils  |  Le meilleur split maximise ΔI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97680" cy="1481328"/>
          </a:xfrm>
          <a:prstGeom prst="rect">
            <a:avLst/>
          </a:prstGeom>
          <a:solidFill>
            <a:srgbClr val="EEF4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8961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Probabilité et Décision en Feuille 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p̂_leaf = n_pos / (n_pos + n_neg)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1  si  p̂_leaf ≥ seuil t, sinon 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n_pos, n_neg = nb d'exemples positifs/négatifs dans la feuille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487168"/>
            <a:ext cx="8686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5511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Gini vs Entropie 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89504"/>
            <a:ext cx="1097280" cy="2377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8895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Indice Gini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90472" y="28895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Gini(t) = 1 - Σ p(k|t)²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90472" y="31455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rapide (pas de log), légèrement biaisé vers les classes majoritaires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889504"/>
            <a:ext cx="1097280" cy="23774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895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Entropie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79592" y="28895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H(t) = -Σ p(k|t)·log₂(p(k|t))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79592" y="31455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l'information, pénalise davantage les splits déséquilibrés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4005072"/>
            <a:ext cx="8686800" cy="777240"/>
          </a:xfrm>
          <a:prstGeom prst="rect">
            <a:avLst/>
          </a:prstGeom>
          <a:solidFill>
            <a:srgbClr val="F0F7FF"/>
          </a:solidFill>
          <a:ln w="12700">
            <a:solidFill>
              <a:srgbClr val="0E9F8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4069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Lien Projet 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31596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variables thal, cp, ca — dominantes dans nos résultats — jouent le rôle de variables de split discriminantes dans les arbres du Gradient Boosting. Un split sur thal &gt; 6 sépare efficacement sains et malades car sa réduction d'impureté ΔI est maximale.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vs Random Forest — Comparaison Fondamentale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41248"/>
            <a:ext cx="4206240" cy="40233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(Bagging Parallèle)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4023360" cy="658368"/>
          </a:xfrm>
          <a:prstGeom prst="rect">
            <a:avLst/>
          </a:prstGeom>
          <a:solidFill>
            <a:srgbClr val="EEF4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p̂_RF(x) = (1/B) Σ h_b(x)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39319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arbres entraînés EN PARALLÈLE sur des sous-échantillons Bootstrap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arbre est PROFOND et complet (fort apprenant)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VARIANCE : la moyenne lisse les erreurs individuelles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au bruit et aux outliers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Facilement parallélisable → rapide sur multi-cœurs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implémenté dans notre notebook (cité en perspective)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4206240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8412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(Additif Séquentiel)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298448"/>
            <a:ext cx="4023360" cy="658368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3533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p̂_GB(x) = σ(F₀(x) + Σ η·hₘ(x))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393192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arbres entraînés EN SÉQUENCE avec DÉPENDANCE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arbre est FAIBLE (max_depth=3, apprenants weak)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BIAIS + variance via corrections successives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sensible aux hyperparamètres et au surapprentissage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Séquentiel → non parallélisable, plus lent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Implémenté : GradientBoostingClassifier sklearn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" y="4187952"/>
            <a:ext cx="8686800" cy="621792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4251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Lien Projet 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4622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surapprentissage GB (AUC train 1.000, gap CV = 0.138) est cohérent avec la dynamique séquentielle qui amplifie les erreurs résiduelles sur un petit jeu. Random Forest serait moins vulnérable.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— Extension Régularisée du Boosting (Extension Théorique)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713232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96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 Objectif Régularisée XGBoost 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572768"/>
            <a:ext cx="8686800" cy="530352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93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Obj(t) = Σ l(yᵢ, ŷᵢ(t-1)+fₜ(xᵢ)) + Ω(fₜ)      où      Ω(f) = γT + (λ/2)Σwⱼ²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" y="2267712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Approximation de Second Ordre 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6334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Õbj(t) ≈ Σ[gᵢfₜ(xᵢ) + ½hᵢfₜ(xᵢ)²] + Ω(fₜ)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12724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gᵢ = ∂l/∂ŷᵢ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gradient du 1er ordre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hᵢ = ∂²l/∂ŷᵢ²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hessienne (courbure) → meilleure estimation du pas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pénalise le nombre de feuilles T  |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</a:t>
            </a:r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régularisation L2 sur les poids wⱼ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267712"/>
            <a:ext cx="4297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Avantages vs GB sklearn 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651760"/>
            <a:ext cx="40233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structurelle explicite (γ, λ)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native des valeurs manquantes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 second ordre → plus stable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par gain minimum (pas de splits inutiles)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subsampling par niveau d'arbre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Permettrait de réduire le gap CV observé (0.138)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4041648"/>
            <a:ext cx="8686800" cy="804672"/>
          </a:xfrm>
          <a:prstGeom prst="rect">
            <a:avLst/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4105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Statut dans ce Projet 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37083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est présenté ici comme EXTENSION THÉORIQUE uniquement — non implémenté dans main.ipynb. Il représente une perspective d'amélioration directe pour réduire le surapprentissage du GradientBoostingClassifier sklearn observé dans nos résultats.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560320" y="14630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E — Protocole Expérimental &amp; Métriques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0" y="26517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confusion, Recall, Précision, F1, ROC-AUC, Brier score, Validation croisée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 de Confusion — Fondation de Toutes les Métriques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572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896112"/>
            <a:ext cx="1481328" cy="347472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8961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Prédit +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896112"/>
            <a:ext cx="1481328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8961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Prédit -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1316736"/>
            <a:ext cx="1234440" cy="82296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316736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" y="2212848"/>
            <a:ext cx="123444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212848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00200" y="1316736"/>
            <a:ext cx="1481328" cy="822960"/>
          </a:xfrm>
          <a:prstGeom prst="rect">
            <a:avLst/>
          </a:prstGeom>
          <a:solidFill>
            <a:srgbClr val="16A34A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13533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171907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 Positif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00200" y="193852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Malade détecté → parfait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154680" y="1316736"/>
            <a:ext cx="1481328" cy="822960"/>
          </a:xfrm>
          <a:prstGeom prst="rect">
            <a:avLst/>
          </a:prstGeom>
          <a:solidFill>
            <a:srgbClr val="DC2626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13533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154680" y="171907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Négatif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54680" y="193852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Malade manqué → DANGER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600200" y="2212848"/>
            <a:ext cx="1481328" cy="822960"/>
          </a:xfrm>
          <a:prstGeom prst="rect">
            <a:avLst/>
          </a:prstGeom>
          <a:solidFill>
            <a:srgbClr val="EA580C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224942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00200" y="261518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00200" y="283464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 alarmé → coût modéré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54680" y="2212848"/>
            <a:ext cx="1481328" cy="822960"/>
          </a:xfrm>
          <a:prstGeom prst="rect">
            <a:avLst/>
          </a:prstGeom>
          <a:solidFill>
            <a:srgbClr val="0E9F8F"/>
          </a:solidFill>
          <a:ln w="25400">
            <a:solidFill>
              <a:srgbClr val="0E9F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2249424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154680" y="261518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 Négatif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54680" y="283464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 correctement écarté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92608" y="31089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+ FN + FP + VN = n (total test)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19472" y="841248"/>
            <a:ext cx="400507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74920" y="896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Clés :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10912" y="1261872"/>
            <a:ext cx="822960" cy="2926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12618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07024" y="12618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(VP+VN)/n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10912" y="1572768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globale correcte — limitée si déséquilibre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10912" y="1920240"/>
            <a:ext cx="82296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10912" y="1920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07024" y="1920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VP/(VP+FN)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10912" y="2231136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minimiser FN en dépistage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10912" y="2578608"/>
            <a:ext cx="822960" cy="2926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25786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Précision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07024" y="25786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VP/(VP+FP)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10912" y="2889504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les fausses alarmes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10912" y="3236976"/>
            <a:ext cx="822960" cy="2926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10912" y="32369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Spécificité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07024" y="32369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VN/(VN+FP)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010912" y="3547872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négatifs correctement écartés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" y="4169664"/>
            <a:ext cx="8686800" cy="658368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65760" y="42336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Asymétrie Clinique :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5760" y="44622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(patient malade non détecté) = risque vital  &gt;&gt;  FP (patient sain orienté vers examens) = coût modéré  →  Maximiser le Recall est la priorité médicale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F1-Score, ROC-AUC — Métriques Composites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206240" cy="1920240"/>
          </a:xfrm>
          <a:prstGeom prst="rect">
            <a:avLst/>
          </a:prstGeom>
          <a:solidFill>
            <a:srgbClr val="EEF4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96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 — Moyenne Harmonique 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F₁ = 2 · (Précision · Recall) / (Précision + Recall)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moyenne harmonique pénalise les déséquilibres entre Précision et Recall.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avec Précision=1.0, Recall=0.1 aura F1=0.18 (faible) malgré la haute Précision.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97680" cy="1920240"/>
          </a:xfrm>
          <a:prstGeom prst="rect">
            <a:avLst/>
          </a:prstGeom>
          <a:solidFill>
            <a:srgbClr val="ECFDF5"/>
          </a:solidFill>
          <a:ln w="25400">
            <a:solidFill>
              <a:srgbClr val="0E9F8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8961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 — Discrimination Globale 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TPR(t) = P(p̂ ≥ t | y=1)    FPR(t) = P(p̂ ≥ t | y=0)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5179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 = ∫₀¹ TPR(FPR⁻¹(x)) dx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883664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P(score positif &gt; score négatif)  |  0.5=aléatoire, 1.0=parfait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clé : indépendant du seuil de décision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907792"/>
            <a:ext cx="8686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9718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Croisée Stratifiée (StratifiedKFold, K=5) 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364992"/>
            <a:ext cx="3931920" cy="658368"/>
          </a:xfrm>
          <a:prstGeom prst="rect">
            <a:avLst/>
          </a:prstGeom>
          <a:solidFill>
            <a:srgbClr val="ECFDF5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1985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S̄ = (1/K) Σ Sₖ  pour k=1..K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3364992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: 5 folds, chacun utilisé une fois comme jeu de validation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Stratifié : proportions de classes ~54%/46% préservées dans chaque fold → estimations stables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shuffle=True, random_state=42 → reproductibilité totale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237 exemples train : ~190 train, ~47 validation par fold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Brier Score &amp; CV Gap — Calibration et Diagnostic du Surapprentissage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206240" cy="1874520"/>
          </a:xfrm>
          <a:prstGeom prst="rect">
            <a:avLst/>
          </a:prstGeom>
          <a:solidFill>
            <a:srgbClr val="EEF4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96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Brier Score — Calibration des Probabilités 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Brier = (1/n) Σ (p̂ᵢ - yᵢ)²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p̂ᵢ = probabilité prédite, yᵢ ∈ {0,1}  |  Brier ∈ [0,1]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calibration parfaite  |  1 = pire calibration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clinique : si p̂=0.7, ~70% de ce groupe devrait être positif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97680" cy="187452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8961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Gap — Diagnostic Surapprentissage 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CV_gap = S̄_train - S̄_test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1682496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≈ 0 : bon compromis biais-variance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&gt;&gt; 0 : SURAPPRENTISSAGE (mémorisation du train)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&lt; 0 : rare, forte régularisation ou bruit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834640"/>
            <a:ext cx="8686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8986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de notre Étude 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1645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11680" y="33467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Gap: 0.031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33467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 Meilleur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3346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Brier: 0.098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16368" y="334670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bonne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794760"/>
            <a:ext cx="1645920" cy="4114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94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11680" y="38496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Gap: 0.047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11880" y="38496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 Bon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38496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Brier: 0.094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16368" y="384962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(0.094)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297680"/>
            <a:ext cx="164592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297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011680" y="43525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Gap: 0.138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11880" y="43525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ALERTE surapprentissage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43525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Brier: 0.128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16368" y="435254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bonne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560320" y="14630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F — Résultats : Validation Croisée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0" y="26517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CV 5-fold, analyse des gaps, diagnostic du surapprentissage de GB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Complet des Résultats — Validation Croisée 5-Fold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1453896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" y="841248"/>
            <a:ext cx="1380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841248"/>
            <a:ext cx="950976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19656" y="841248"/>
            <a:ext cx="877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841248"/>
            <a:ext cx="859536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71216" y="841248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Recall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94760" y="841248"/>
            <a:ext cx="768096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31336" y="841248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F1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841248"/>
            <a:ext cx="996696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841248"/>
            <a:ext cx="923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ROC-AUC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841248"/>
            <a:ext cx="768096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97296" y="841248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Gap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841248"/>
            <a:ext cx="1453896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5976" y="841248"/>
            <a:ext cx="1380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1316736"/>
            <a:ext cx="1453896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353312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783080" y="1316736"/>
            <a:ext cx="950976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1353312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34640" y="1316736"/>
            <a:ext cx="859536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1353312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94760" y="1316736"/>
            <a:ext cx="768096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1353312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316736"/>
            <a:ext cx="996696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353312"/>
            <a:ext cx="905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1316736"/>
            <a:ext cx="768096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1353312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29400" y="1316736"/>
            <a:ext cx="1453896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1353312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Robuste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1956816"/>
            <a:ext cx="1453896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1993392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783080" y="1956816"/>
            <a:ext cx="9509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0" y="1993392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834640" y="1956816"/>
            <a:ext cx="8595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80360" y="1993392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794760" y="1956816"/>
            <a:ext cx="76809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0" y="1993392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1956816"/>
            <a:ext cx="99669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1993392"/>
            <a:ext cx="905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0.869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60720" y="1956816"/>
            <a:ext cx="76809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1993392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629400" y="1956816"/>
            <a:ext cx="145389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1993392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Acceptable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" y="2596896"/>
            <a:ext cx="1453896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2633472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783080" y="2596896"/>
            <a:ext cx="950976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0" y="2633472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0.869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834640" y="2596896"/>
            <a:ext cx="859536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80360" y="2633472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0.826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794760" y="2596896"/>
            <a:ext cx="768096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0" y="2633472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0.846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63440" y="2596896"/>
            <a:ext cx="996696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2633472"/>
            <a:ext cx="905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0.862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760720" y="2596896"/>
            <a:ext cx="768096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06440" y="2633472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0.138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629400" y="2596896"/>
            <a:ext cx="1453896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75120" y="2633472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Surapprentissage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28600" y="3236976"/>
            <a:ext cx="1453896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3273552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Dummy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783080" y="3236976"/>
            <a:ext cx="9509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0" y="3273552"/>
            <a:ext cx="859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0.541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834640" y="3236976"/>
            <a:ext cx="8595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80360" y="3273552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794760" y="3236976"/>
            <a:ext cx="76809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40480" y="3273552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663440" y="3236976"/>
            <a:ext cx="99669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09160" y="3273552"/>
            <a:ext cx="905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0.500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760720" y="3236976"/>
            <a:ext cx="76809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06440" y="3273552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629400" y="3236976"/>
            <a:ext cx="145389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75120" y="3273552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Plancher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28600" y="3931920"/>
            <a:ext cx="86868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365760" y="39959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: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36576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modèles surpassent la Baseline (✓ Objectif O1 atteint).  Paradoxe GB : meilleure Accuracy CV (0.869) mais pire ROC-AUC (0.862) et gap alarmant (0.138).  Classement robustesse : NB &gt; LogReg &gt;&gt; GB.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— Analyse du Surapprentissage (CV Gap = 0.138)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658368"/>
          </a:xfrm>
          <a:prstGeom prst="rect">
            <a:avLst/>
          </a:prstGeom>
          <a:solidFill>
            <a:srgbClr val="FFF0F0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44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FORT : CV Gap = 0.138  |  Train AUC = 1.000 (mémorisation complète)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645920"/>
            <a:ext cx="281635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645920"/>
            <a:ext cx="2816352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4592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1 — CV Gap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084832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GB=0.138 vs NB=0.031, LogReg=0.047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gap GB est 3x à 4.5x supérieur aux autres modèles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3474720"/>
            <a:ext cx="2633472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4787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fort de mémorisation du jeu d'entraînement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1645920"/>
            <a:ext cx="281635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645920"/>
            <a:ext cx="2816352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64592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2 — Train AUC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2084832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AUC = 1.000 (score parfait sur le train)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validation AUC = 0.862 (moins bon sur données jamais vues)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10128" y="3474720"/>
            <a:ext cx="2633472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354787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de 0.138 points → mémorisation totale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08776" y="1645920"/>
            <a:ext cx="281635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08776" y="1645920"/>
            <a:ext cx="2816352" cy="402336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164592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3 — Test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0216" y="2084832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 GB = 0.905 &lt; NB = 0.938 &lt; LogReg = 0.950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3 mécanismes de régularisation actifs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0216" y="3474720"/>
            <a:ext cx="2633472" cy="4572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3547872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A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généralisation reste inférieure aux modèles simples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187952"/>
            <a:ext cx="8686800" cy="621792"/>
          </a:xfrm>
          <a:prstGeom prst="rect">
            <a:avLst/>
          </a:prstGeom>
          <a:solidFill>
            <a:srgbClr val="F0FF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4251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diagnostic de surapprentissage est ROBUSTE car soutenu par 3 preuves indépendantes et convergentes. Cause probable : combinaison petit dataset (237 exemples) + modèle très puissant.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560320" y="14630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G — Résultats : Jeu de Test Hold-Out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0" y="26517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confusion, erreurs FN/FP, courbes ROC, rapports de classification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Complet des Résultats — Jeu de Test (n=60)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841248"/>
            <a:ext cx="1399032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841248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82496" y="841248"/>
            <a:ext cx="8229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9072" y="841248"/>
            <a:ext cx="758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87752" y="841248"/>
            <a:ext cx="8229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4328" y="841248"/>
            <a:ext cx="758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Précision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93008" y="841248"/>
            <a:ext cx="8229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841248"/>
            <a:ext cx="758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98264" y="841248"/>
            <a:ext cx="86868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841248"/>
            <a:ext cx="804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Spécificité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49240" y="841248"/>
            <a:ext cx="7315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85816" y="841248"/>
            <a:ext cx="667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63056" y="841248"/>
            <a:ext cx="850392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841248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95744" y="841248"/>
            <a:ext cx="82296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841248"/>
            <a:ext cx="758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vs CV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" y="1316736"/>
            <a:ext cx="1399032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" y="135331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82496" y="1316736"/>
            <a:ext cx="82296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19072" y="135331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0.833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87752" y="1316736"/>
            <a:ext cx="82296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24328" y="135331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0.846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93008" y="1316736"/>
            <a:ext cx="82296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9584" y="135331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0.786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98264" y="1316736"/>
            <a:ext cx="86868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0.875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49240" y="1316736"/>
            <a:ext cx="7315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85816" y="1353312"/>
            <a:ext cx="64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63056" y="1316736"/>
            <a:ext cx="850392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1353312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095744" y="1316736"/>
            <a:ext cx="82296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135331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+0.080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01168" y="1956816"/>
            <a:ext cx="1399032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7744" y="199339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682496" y="1956816"/>
            <a:ext cx="822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19072" y="199339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587752" y="1956816"/>
            <a:ext cx="822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24328" y="199339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0.889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493008" y="1956816"/>
            <a:ext cx="822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29584" y="199339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0.857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98264" y="1956816"/>
            <a:ext cx="868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34840" y="1993392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0.906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349240" y="1956816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85816" y="1993392"/>
            <a:ext cx="64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0.873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63056" y="1956816"/>
            <a:ext cx="8503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1993392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0.938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095744" y="1956816"/>
            <a:ext cx="822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0" y="199339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+0.068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01168" y="2596896"/>
            <a:ext cx="1399032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7744" y="263347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682496" y="2596896"/>
            <a:ext cx="82296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19072" y="263347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0.817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587752" y="2596896"/>
            <a:ext cx="82296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24328" y="263347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493008" y="2596896"/>
            <a:ext cx="82296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29584" y="263347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0.786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398264" y="2596896"/>
            <a:ext cx="86868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34840" y="2633472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0.844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349240" y="2596896"/>
            <a:ext cx="73152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85816" y="2633472"/>
            <a:ext cx="64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0.800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163056" y="2596896"/>
            <a:ext cx="850392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99632" y="2633472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0.905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7095744" y="2596896"/>
            <a:ext cx="82296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32320" y="263347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+0.043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201168" y="3236976"/>
            <a:ext cx="1399032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37744" y="327355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Dummy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1682496" y="3236976"/>
            <a:ext cx="822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719072" y="327355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0.533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2587752" y="3236976"/>
            <a:ext cx="822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624328" y="327355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3493008" y="3236976"/>
            <a:ext cx="822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29584" y="327355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398264" y="3236976"/>
            <a:ext cx="868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434840" y="3273552"/>
            <a:ext cx="786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5349240" y="3236976"/>
            <a:ext cx="73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385816" y="3273552"/>
            <a:ext cx="64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6163056" y="3236976"/>
            <a:ext cx="8503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99632" y="3273552"/>
            <a:ext cx="768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0.500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7095744" y="3236976"/>
            <a:ext cx="822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32320" y="3273552"/>
            <a:ext cx="74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201168" y="3931920"/>
            <a:ext cx="871423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338328" y="3995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Observations clés :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338328" y="4251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NB = 0.857 (meilleur)  |  ROC-AUC LogReg = 0.950 (meilleur)  |  Tous les Δ positifs = performances test légèrement supérieures aux estimations CV (variabilité 60 obs.)  |  Rang préservé : NB et LogReg dominent GB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Erreurs FN/FP — Perspective Clinique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621792"/>
          </a:xfrm>
          <a:prstGeom prst="rect">
            <a:avLst/>
          </a:prstGeom>
          <a:solidFill>
            <a:srgbClr val="EEF4FF"/>
          </a:solidFill>
          <a:ln w="254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44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exemples test : 32 sains (négatifs) + 28 malades (positifs)  —  chaque FN = patient malade non détecté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600200"/>
            <a:ext cx="2011680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600200"/>
            <a:ext cx="2011680" cy="347472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" y="2011680"/>
            <a:ext cx="868680" cy="438912"/>
          </a:xfrm>
          <a:prstGeom prst="rect">
            <a:avLst/>
          </a:prstGeom>
          <a:solidFill>
            <a:srgbClr val="E8FDF5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201168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VP=24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61872" y="2011680"/>
            <a:ext cx="868680" cy="438912"/>
          </a:xfrm>
          <a:prstGeom prst="rect">
            <a:avLst/>
          </a:prstGeom>
          <a:solidFill>
            <a:srgbClr val="FFF0F0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201168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FN=4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" y="2514600"/>
            <a:ext cx="868680" cy="438912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25146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FP=3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61872" y="2514600"/>
            <a:ext cx="868680" cy="438912"/>
          </a:xfrm>
          <a:prstGeom prst="rect">
            <a:avLst/>
          </a:prstGeom>
          <a:solidFill>
            <a:srgbClr val="F0FDF9"/>
          </a:solidFill>
          <a:ln w="19050">
            <a:solidFill>
              <a:srgbClr val="0E9F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25146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VN=29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" y="3127248"/>
            <a:ext cx="1865376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312724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FN = 14.3%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2" y="3566160"/>
            <a:ext cx="1865376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" y="35661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FP = 9.4%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1752" y="4005072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9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pour dépistage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23160" y="1600200"/>
            <a:ext cx="2011680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23160" y="1600200"/>
            <a:ext cx="201168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Logistique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96312" y="2011680"/>
            <a:ext cx="868680" cy="438912"/>
          </a:xfrm>
          <a:prstGeom prst="rect">
            <a:avLst/>
          </a:prstGeom>
          <a:solidFill>
            <a:srgbClr val="E8FDF5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96312" y="201168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VP=22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56432" y="2011680"/>
            <a:ext cx="868680" cy="438912"/>
          </a:xfrm>
          <a:prstGeom prst="rect">
            <a:avLst/>
          </a:prstGeom>
          <a:solidFill>
            <a:srgbClr val="FFF0F0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6432" y="201168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FN=6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496312" y="2514600"/>
            <a:ext cx="868680" cy="438912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96312" y="25146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FP=5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56432" y="2514600"/>
            <a:ext cx="868680" cy="438912"/>
          </a:xfrm>
          <a:prstGeom prst="rect">
            <a:avLst/>
          </a:prstGeom>
          <a:solidFill>
            <a:srgbClr val="F0FDF9"/>
          </a:solidFill>
          <a:ln w="19050">
            <a:solidFill>
              <a:srgbClr val="0E9F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56432" y="25146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VN=27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96312" y="3127248"/>
            <a:ext cx="1865376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96312" y="312724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FN = 21.4%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96312" y="3566160"/>
            <a:ext cx="1865376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96312" y="35661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FP = 15.6%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96312" y="4005072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ROC-AUC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1600200"/>
            <a:ext cx="2011680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1600200"/>
            <a:ext cx="201168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90872" y="2011680"/>
            <a:ext cx="868680" cy="438912"/>
          </a:xfrm>
          <a:prstGeom prst="rect">
            <a:avLst/>
          </a:prstGeom>
          <a:solidFill>
            <a:srgbClr val="E8FDF5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90872" y="201168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VP=22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650992" y="2011680"/>
            <a:ext cx="868680" cy="438912"/>
          </a:xfrm>
          <a:prstGeom prst="rect">
            <a:avLst/>
          </a:prstGeom>
          <a:solidFill>
            <a:srgbClr val="FFF0F0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50992" y="201168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FN=6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90872" y="2514600"/>
            <a:ext cx="868680" cy="438912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90872" y="25146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FP=6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650992" y="2514600"/>
            <a:ext cx="868680" cy="438912"/>
          </a:xfrm>
          <a:prstGeom prst="rect">
            <a:avLst/>
          </a:prstGeom>
          <a:solidFill>
            <a:srgbClr val="F0FDF9"/>
          </a:solidFill>
          <a:ln w="19050">
            <a:solidFill>
              <a:srgbClr val="0E9F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50992" y="25146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VN=26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90872" y="3127248"/>
            <a:ext cx="1865376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90872" y="312724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FN = 21.4%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90872" y="3566160"/>
            <a:ext cx="1865376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90872" y="35661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FP = 18.8%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690872" y="4005072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 → retrait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12280" y="1600200"/>
            <a:ext cx="2011680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12280" y="1600200"/>
            <a:ext cx="20116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12280" y="1600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Dummy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885432" y="2011680"/>
            <a:ext cx="868680" cy="438912"/>
          </a:xfrm>
          <a:prstGeom prst="rect">
            <a:avLst/>
          </a:prstGeom>
          <a:solidFill>
            <a:srgbClr val="E8FDF5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85432" y="201168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VP=0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845552" y="2011680"/>
            <a:ext cx="868680" cy="438912"/>
          </a:xfrm>
          <a:prstGeom prst="rect">
            <a:avLst/>
          </a:prstGeom>
          <a:solidFill>
            <a:srgbClr val="FFF0F0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45552" y="201168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FN=28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885432" y="2514600"/>
            <a:ext cx="868680" cy="438912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85432" y="25146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FP=0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845552" y="2514600"/>
            <a:ext cx="868680" cy="438912"/>
          </a:xfrm>
          <a:prstGeom prst="rect">
            <a:avLst/>
          </a:prstGeom>
          <a:solidFill>
            <a:srgbClr val="F0FDF9"/>
          </a:solidFill>
          <a:ln w="19050">
            <a:solidFill>
              <a:srgbClr val="0E9F8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45552" y="25146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VN=32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885432" y="3127248"/>
            <a:ext cx="1865376" cy="384048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85432" y="312724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FN = 100%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885432" y="3566160"/>
            <a:ext cx="1865376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85432" y="35661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FP = 0%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885432" y="4005072"/>
            <a:ext cx="18653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Cliniquement inutile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des Variables — Gradient Boosting vs Régression Logistique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144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des deux modèles sur les variables clés : thal, cp, ca — signal clinique fort confirmé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74066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" y="150876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42416" y="1508760"/>
            <a:ext cx="133502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508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508760"/>
            <a:ext cx="92354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5087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 Importance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47288" y="1508760"/>
            <a:ext cx="60350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3864" y="1508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 GB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23944" y="1508760"/>
            <a:ext cx="101498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5087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LogReg |coeff|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12080" y="1508760"/>
            <a:ext cx="96926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48656" y="15087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 LogReg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54496" y="1508760"/>
            <a:ext cx="2706624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1920240"/>
            <a:ext cx="740664" cy="475488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" y="1956816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42416" y="1920240"/>
            <a:ext cx="133502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1956816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Thalassémie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50592" y="1920240"/>
            <a:ext cx="92354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87168" y="1956816"/>
            <a:ext cx="850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47288" y="1920240"/>
            <a:ext cx="60350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83864" y="1956816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23944" y="1920240"/>
            <a:ext cx="101498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1956816"/>
            <a:ext cx="941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12080" y="1920240"/>
            <a:ext cx="96926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48656" y="1956816"/>
            <a:ext cx="896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54496" y="1920240"/>
            <a:ext cx="270662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1956816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dans les deux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2450592"/>
            <a:ext cx="740664" cy="475488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176" y="2487168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42416" y="2450592"/>
            <a:ext cx="133502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2487168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Douleur thoracique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50592" y="2450592"/>
            <a:ext cx="92354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87168" y="2487168"/>
            <a:ext cx="850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47288" y="2450592"/>
            <a:ext cx="60350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83864" y="2487168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23944" y="2450592"/>
            <a:ext cx="10149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60520" y="2487168"/>
            <a:ext cx="941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0.508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212080" y="2450592"/>
            <a:ext cx="96926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48656" y="2487168"/>
            <a:ext cx="896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54496" y="2450592"/>
            <a:ext cx="270662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2487168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 clinique clé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8600" y="2980944"/>
            <a:ext cx="740664" cy="475488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5176" y="3017520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42416" y="2980944"/>
            <a:ext cx="133502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78992" y="301752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Vaisseaux colorés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450592" y="2980944"/>
            <a:ext cx="92354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87168" y="3017520"/>
            <a:ext cx="850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0.124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447288" y="2980944"/>
            <a:ext cx="60350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83864" y="301752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123944" y="2980944"/>
            <a:ext cx="101498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60520" y="3017520"/>
            <a:ext cx="941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0.958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212080" y="2980944"/>
            <a:ext cx="96926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48656" y="3017520"/>
            <a:ext cx="896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254496" y="2980944"/>
            <a:ext cx="270662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91072" y="3017520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 LogReg très élevé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28600" y="3511296"/>
            <a:ext cx="740664" cy="475488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5176" y="3547872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042416" y="3511296"/>
            <a:ext cx="133502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78992" y="3547872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450592" y="3511296"/>
            <a:ext cx="92354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487168" y="3547872"/>
            <a:ext cx="850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0.113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447288" y="3511296"/>
            <a:ext cx="60350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83864" y="3547872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123944" y="3511296"/>
            <a:ext cx="10149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60520" y="3547872"/>
            <a:ext cx="941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0.037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212080" y="3511296"/>
            <a:ext cx="96926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48656" y="3547872"/>
            <a:ext cx="896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254496" y="3511296"/>
            <a:ext cx="270662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91072" y="3547872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non-linéaire GB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28600" y="4041648"/>
            <a:ext cx="740664" cy="475488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65176" y="4078224"/>
            <a:ext cx="667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oldpeak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042416" y="4041648"/>
            <a:ext cx="133502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78992" y="407822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Dépression ST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2450592" y="4041648"/>
            <a:ext cx="92354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487168" y="4078224"/>
            <a:ext cx="850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0.095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447288" y="4041648"/>
            <a:ext cx="60350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83864" y="4078224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123944" y="4041648"/>
            <a:ext cx="101498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60520" y="4078224"/>
            <a:ext cx="941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0.444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212080" y="4041648"/>
            <a:ext cx="96926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248656" y="4078224"/>
            <a:ext cx="896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254496" y="4041648"/>
            <a:ext cx="2706624" cy="47548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91072" y="4078224"/>
            <a:ext cx="2633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ECG à l'effort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228600" y="4681728"/>
            <a:ext cx="8686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365760" y="47274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age est importante pour GB (0.113) mais pas pour LogReg (0.037) → GB capte les interactions non-linéaires entre âge et autres variables — ce que la régression linéaire ne peut pas modéliser.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560320" y="14630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H — Analyse Critique Avancée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0" y="26517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Calibration, courbes d'apprentissage, biais-variance, limites et validité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des Probabilités — Interprétation Clinique du Brier Score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28163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41248"/>
            <a:ext cx="2816352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243584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Brier = 0.094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177393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 MEILLEUR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103120"/>
            <a:ext cx="26334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probabilités prédites sont très proches des fréquences observées.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patient avec p̂=0.70 a ~70% de chance réelle d'être positif.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naturellement bonne pour les modèles linéaires.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841248"/>
            <a:ext cx="28163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841248"/>
            <a:ext cx="2816352" cy="347472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8412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243584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Brier = 0.098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64408" y="177393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9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 BONNE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2103120"/>
            <a:ext cx="26334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acceptable malgré l'hypothèse d'indépendance violée.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probabilités restent exploitables cliniquement.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 minimale avec LogReg (0.004).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99048" y="841248"/>
            <a:ext cx="28163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99048" y="841248"/>
            <a:ext cx="281635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8412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0488" y="1243584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Brier = 0.128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90488" y="177393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MOINS BONNE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0488" y="2103120"/>
            <a:ext cx="26334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 moins fiables cliniquement.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P̂=0.70 ne garantit pas 70% de vrais positifs.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post-hoc (Platt/isotonique) recommandée.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4626864"/>
            <a:ext cx="8686800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46634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clinique : un modèle bien calibré permet de dire au médecin « Ce patient a 70% de risque cardiaque » avec confiance → la calibration est aussi cruciale que la discrimination (ROC-AUC)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Courbes d'Apprentissage — Diagnostic Biais/Variance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658368"/>
          </a:xfrm>
          <a:prstGeom prst="rect">
            <a:avLst/>
          </a:prstGeom>
          <a:solidFill>
            <a:srgbClr val="EEF4FF"/>
          </a:solidFill>
          <a:ln w="254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326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Interprétation : Si S_train(n) - S_val(n) → 0 quand n → ∞, le modèle ne souffre pas de surapprentissage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645920"/>
            <a:ext cx="2816352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645920"/>
            <a:ext cx="2816352" cy="347472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4592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" y="2048256"/>
            <a:ext cx="2670048" cy="10241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848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3042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8760" y="22677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12724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convergent rapidement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47472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S_train ≈ S_val même sur peu de données → faible variance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L'hypothèse d'indépendance contraint le modèle → peu de surapprentissage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431596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★★★ Profil OPTIMAL pour petit dataset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18688" y="1645920"/>
            <a:ext cx="2816352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1645920"/>
            <a:ext cx="2816352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64592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Rég. Logistique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048256"/>
            <a:ext cx="2670048" cy="10241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20848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55848" y="23042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98848" y="22677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0128" y="312724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convergent progressivement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347472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S_train &gt; S_val initialement puis se rejoignent → régularisation L2 agit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Bon compromis biais-variance confirmé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10128" y="431596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★★ Profil BON pour petit dataset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08776" y="1645920"/>
            <a:ext cx="2816352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08776" y="1645920"/>
            <a:ext cx="281635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0216" y="164592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81928" y="2048256"/>
            <a:ext cx="2670048" cy="1024128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20848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45936" y="23042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88936" y="22677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persiste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0216" y="312724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persiste malgré plus de données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0216" y="3474720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S_train=1.000 reste constant (mémorisation)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S_val plafonne bien en dessous → gap structurel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Surapprentissage non résolu par l'augmentation des données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0216" y="431596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SURAPPRENTISSAGE STRUCTUREL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l'Étude — Honnêteté Académique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28346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Taille du Dataset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71016"/>
            <a:ext cx="265176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71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297 obs. / 60 en test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618488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Estimations sujettes à variabilité stochastique. Intervalle de confiance sur les métriques non calculé.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86868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868680"/>
            <a:ext cx="283464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Validation Externe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1271016"/>
            <a:ext cx="26517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271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Cleveland uniquement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1618488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résultats viennent d'un seul dataset. Généralisation à d'autres populations non garantie.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8776" y="86868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868680"/>
            <a:ext cx="2834640" cy="3474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Tuning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0216" y="1271016"/>
            <a:ext cx="2651760" cy="27432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1271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A8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Hyperparamètres par défaut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0216" y="1618488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GridSearchCV/RandomizedSearchCV non implémentés → performances potentiellement sous-optimales, surtout pour GB.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92608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926080"/>
            <a:ext cx="283464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926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Seuil Exploratoire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328416"/>
            <a:ext cx="265176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328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Ajusté sur le jeu de test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3675888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optimisé (0.151 NB) est biaisé : estimé et évalué sur les mêmes données test → optimisme artificiel.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18688" y="292608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18688" y="2926080"/>
            <a:ext cx="283464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926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Hypothèses Modèles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10128" y="3328416"/>
            <a:ext cx="2651760" cy="274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3328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Violations connues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10128" y="3675888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Indépendance NB violée (variables corrélées). Linéarité LogReg potentiellement limitante pour relations complexes.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08776" y="292608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08776" y="2926080"/>
            <a:ext cx="283464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0216" y="2926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Tests Statistiques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0216" y="3328416"/>
            <a:ext cx="265176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3328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Différences non formalisées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0216" y="3675888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McNemar (comparaison de classifieurs) non implémenté → les différences entre modèles ne sont pas statistiquement certifiées.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560320" y="146304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I — Conclusion &amp; Perspectives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560320" y="26517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cliniques opérationnelles et axes d'amélioration non implémentés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 Opérationnelle — Quel Modèle pour Quel Usage 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206240" cy="3246120"/>
          </a:xfrm>
          <a:prstGeom prst="rect">
            <a:avLst/>
          </a:prstGeom>
          <a:solidFill>
            <a:srgbClr val="F0FF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41248"/>
            <a:ext cx="420624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Dépistage — Minimiser les FN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NAIVE BAYES  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868680" cy="402336"/>
          </a:xfrm>
          <a:prstGeom prst="rect">
            <a:avLst/>
          </a:prstGeom>
          <a:solidFill>
            <a:srgbClr val="E6F9F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0195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61872" y="19019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1901952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— 4 FN sur 28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868680" cy="402336"/>
          </a:xfrm>
          <a:prstGeom prst="rect">
            <a:avLst/>
          </a:prstGeom>
          <a:solidFill>
            <a:srgbClr val="E6F9F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7744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61872" y="23774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48840" y="237744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F1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52928"/>
            <a:ext cx="868680" cy="402336"/>
          </a:xfrm>
          <a:prstGeom prst="rect">
            <a:avLst/>
          </a:prstGeom>
          <a:solidFill>
            <a:srgbClr val="E6F9F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85292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Gap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61872" y="285292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48840" y="2852928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compromis biais-variance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28416"/>
            <a:ext cx="868680" cy="402336"/>
          </a:xfrm>
          <a:prstGeom prst="rect">
            <a:avLst/>
          </a:prstGeom>
          <a:solidFill>
            <a:srgbClr val="E6F9F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2841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61872" y="33284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0.098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48840" y="3328416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acceptable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840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FN sur 28 positifs = 14.3% de malades manqués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minimum parmi tous les modèles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841248"/>
            <a:ext cx="4206240" cy="3246120"/>
          </a:xfrm>
          <a:prstGeom prst="rect">
            <a:avLst/>
          </a:prstGeom>
          <a:solidFill>
            <a:srgbClr val="F0F7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841248"/>
            <a:ext cx="4206240" cy="4754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84124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Compromis Global + Interprétabilité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1371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RÉGRESSION LOGISTIQUE  ✓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800600" y="1901952"/>
            <a:ext cx="1097280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9019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61888" y="190195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19019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— discrimination globale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377440"/>
            <a:ext cx="1097280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3774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61888" y="237744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0.094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2377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calibration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2852928"/>
            <a:ext cx="1097280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85292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Interprétabilité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61888" y="285292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★★★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49440" y="28529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βⱼ explicables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3328416"/>
            <a:ext cx="1097280" cy="402336"/>
          </a:xfrm>
          <a:prstGeom prst="rect">
            <a:avLst/>
          </a:prstGeom>
          <a:solidFill>
            <a:srgbClr val="EEF4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32841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Gap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61888" y="332841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0.047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49440" y="33284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acceptable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46320" y="3840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coefficients βⱼ permettent d'expliquer la décision au médecin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(ex: signe(β_thal)&gt;0 → thal élevé augmente le risque)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" y="4206240"/>
            <a:ext cx="8686800" cy="658368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65760" y="4270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: NON RECOMMANDÉ en l'état 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" y="44988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 démontré par 3 preuves convergentes (CV gap 0.138, Train AUC 1.000, test inférieur).  Pourrait bénéficier d'un tuning d'hyperparamètres (non implémenté).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Non Implémentées — Axes d'Amélioration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31596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68680"/>
            <a:ext cx="128016" cy="95097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4183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Global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252728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/ RandomizedSearchCV pour GB, NB, LogReg — potentiellement réducteur du gap CV=0.138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81728" y="868680"/>
            <a:ext cx="431596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868680"/>
            <a:ext cx="128016" cy="950976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82896" y="94183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Externe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82896" y="1252728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sur d'autres cohortes UCI (Hungarian, Swiss, VA Long Beach) pour tester la généralisation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92808"/>
            <a:ext cx="431596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892808"/>
            <a:ext cx="128016" cy="950976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96596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Post-hoc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2276856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 Scaling (régression logistique sur les sorties) ou Régression Isotonique pour améliorer le Brier de GB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892808"/>
            <a:ext cx="431596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1892808"/>
            <a:ext cx="128016" cy="9509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196596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Statistiques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82896" y="2276856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McNemar pour comparer formellement les classifieurs sur l'échantillon test (non implémenté)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916936"/>
            <a:ext cx="431596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916936"/>
            <a:ext cx="128016" cy="9509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99008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/ LightGBM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3300984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régularisée de GB — réduction structurelle du surapprentissage via γ, λ, column subsampling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2916936"/>
            <a:ext cx="431596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2916936"/>
            <a:ext cx="128016" cy="95097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299008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Values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82896" y="3300984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Explicabilité des prédictions individuelles — expliquer POURQUOI un patient spécifique est classé à risque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941064"/>
            <a:ext cx="431596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941064"/>
            <a:ext cx="128016" cy="950976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401421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Net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9768" y="4325112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α·L₁ + (1-α)·L₂ pour sélection de variables dans LogReg (non directement implémenté ici)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81728" y="3941064"/>
            <a:ext cx="4315968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81728" y="3941064"/>
            <a:ext cx="128016" cy="9509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82896" y="401421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Répétée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82896" y="4325112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répété (5×5) pour estimations plus stables sur petit dataset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28600" y="481888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ces éléments sont NON IMPLÉMENTÉS dans main.ipynb — présentés ici comme ouvertures méthodologiques.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64008" cy="5143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Finale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713232"/>
          </a:xfrm>
          <a:prstGeom prst="rect">
            <a:avLst/>
          </a:prstGeom>
          <a:solidFill>
            <a:srgbClr val="1B2D42"/>
          </a:solidFill>
          <a:ln w="25400">
            <a:solidFill>
              <a:srgbClr val="0E9F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4241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"Naive Bayes pour dépister, Régression Logistique pour décider, Gradient Boosting à éviter sans tuning."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48640" cy="347472"/>
          </a:xfrm>
          <a:prstGeom prst="rect">
            <a:avLst/>
          </a:prstGeom>
          <a:solidFill>
            <a:srgbClr val="0E9F8F"/>
          </a:solidFill>
          <a:ln w="12700">
            <a:solidFill>
              <a:srgbClr val="0E9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745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 ✓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battue sur toutes métriques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12848" y="1874520"/>
            <a:ext cx="54864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18745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 ✓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12848" y="2267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CV 5-fold + test hold-out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77056" y="1874520"/>
            <a:ext cx="5486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77056" y="18745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 ✓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77056" y="2267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 GB diagnostiqué (3 preuves)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41264" y="1874520"/>
            <a:ext cx="548640" cy="347472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41264" y="18745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 ✓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41264" y="2267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et seuil analysés (Brier)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05472" y="1874520"/>
            <a:ext cx="5486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18745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O5 ✓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205472" y="2267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clinique justifiée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907792"/>
            <a:ext cx="2377440" cy="1481328"/>
          </a:xfrm>
          <a:prstGeom prst="rect">
            <a:avLst/>
          </a:prstGeom>
          <a:solidFill>
            <a:srgbClr val="0E9F8F"/>
          </a:solidFill>
          <a:ln w="25400">
            <a:solidFill>
              <a:srgbClr val="0E9F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9443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NB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48640" y="34381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9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Dépistage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907792"/>
            <a:ext cx="2377440" cy="1481328"/>
          </a:xfrm>
          <a:prstGeom prst="rect">
            <a:avLst/>
          </a:prstGeom>
          <a:solidFill>
            <a:srgbClr val="1A56DB"/>
          </a:solidFill>
          <a:ln w="2540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9443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5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200400" y="34381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52160" y="2907792"/>
            <a:ext cx="2377440" cy="1481328"/>
          </a:xfrm>
          <a:prstGeom prst="rect">
            <a:avLst/>
          </a:prstGeom>
          <a:solidFill>
            <a:srgbClr val="DC2626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29443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5852160" y="34381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0.138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5216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A8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Réponses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de Maladies Cardiaques - Gradient Boosting, Naive Bayes et Régression Logistique</dc:title>
  <dc:subject>PptxGenJS Presentation</dc:subject>
  <dc:creator>Projet ML</dc:creator>
  <cp:lastModifiedBy>Projet ML</cp:lastModifiedBy>
  <cp:revision>1</cp:revision>
  <dcterms:created xsi:type="dcterms:W3CDTF">2026-04-20T19:27:43Z</dcterms:created>
  <dcterms:modified xsi:type="dcterms:W3CDTF">2026-04-20T19:27:43Z</dcterms:modified>
</cp:coreProperties>
</file>