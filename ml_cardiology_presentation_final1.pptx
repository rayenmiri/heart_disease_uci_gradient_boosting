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1B4F72">
              <a:alpha val="28000"/>
            </a:srgbClr>
          </a:solidFill>
          <a:ln w="12700">
            <a:solidFill>
              <a:srgbClr val="1B4F7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274320"/>
            <a:ext cx="1828800" cy="1828800"/>
          </a:xfrm>
          <a:prstGeom prst="ellipse">
            <a:avLst/>
          </a:prstGeom>
          <a:solidFill>
            <a:srgbClr val="2471A3">
              <a:alpha val="35000"/>
            </a:srgbClr>
          </a:solidFill>
          <a:ln w="12700">
            <a:solidFill>
              <a:srgbClr val="2471A3">
                <a:alpha val="4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de Maladies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Cardiaques par Machine Learning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 ·  Naive Bayes  ·  Régression Logistique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rigoureuse de trois modèles pour le dépistage cardiaque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UCI Cleveland — 297 observations — Validation croisée 5-fold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Machine Learning  ·  Soutenance académique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9966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Fondations : Arbres, Boosting &amp; XGBoost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71907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19072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7556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Cadre clinique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47802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478024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78024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514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Préparation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23697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236976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36976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27355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 des modèles (avec formules)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99592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995928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95928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03250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expérimental &amp; Métriques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00600" y="96012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960120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960120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9966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Validation croisée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00600" y="171907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719072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719072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17556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Jeu de test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00600" y="247802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478024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478024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12080" y="2514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critique avancée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800600" y="323697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236976"/>
            <a:ext cx="34747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236976"/>
            <a:ext cx="347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12080" y="327355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Fondations : Arbres de Décision, Boosting &amp; XGBoost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Approfondie : ID3 — C4.5 — CART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868680" cy="12618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686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98448" y="941832"/>
            <a:ext cx="64922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941832"/>
            <a:ext cx="6492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H(Y) = −Σ pₖ log₂(pₖ)   →   IG(Y,X) = H(Y) − Σᵥ (|Dᵥ|/|D|)·H(Y|X=v)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38988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Entropie de Shannon + Gain d'Information. Choisit l'attribut maximisant IG.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98448" y="17647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 Biais vers attributs à nombreuses valeurs. Pas de support valeurs continues. Arbres multi-branches.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86000"/>
            <a:ext cx="868680" cy="12618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0"/>
            <a:ext cx="8686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98448" y="2313432"/>
            <a:ext cx="64922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2313432"/>
            <a:ext cx="6492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GR(Y,X) = IG(Y,X) / SplitInfo(X)   où   SplitInfo = −Σᵥ (|Dᵥ|/|D|)·log₂(|Dᵥ|/|D|)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98448" y="276148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Ratio corrige le biais ID3. Supporte valeurs continues (seuils). Gère les valeurs manquantes.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8448" y="31363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 Plus lent. Heuristiques complexes. Arbres multi-branches encore.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57600"/>
            <a:ext cx="868680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57600"/>
            <a:ext cx="8686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98448" y="3685032"/>
            <a:ext cx="64922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3685032"/>
            <a:ext cx="6492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Gini(t) = 1 − Σₖ p(k|t)²   →   ΔI(s,t) = I(t) − (Nₗ/Nₜ)·I(tₗ) − (Nᵣ/Nₜ)·I(tᵣ)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98448" y="413308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BINAIRE uniquement. Impureté de Gini. Split optimal par maximisation de ΔI(s,t). BASE de scikit-learn.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98448" y="45079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 Toujours binaire. Sensible aux features dominantes (sans normalisation).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50292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projet : scikit-learn utilise CART (Gini, splits binaires) pour les arbres faibles du Gradient Boosting.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Équation de Split d'un Arbre — Réduction d'Impureté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ΔI(s,t)  =  I(t)  −  (Nₗ/Nₜ)·I(tₗ)  −  (Nᵣ/Nₜ)·I(tᵣ)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45920"/>
            <a:ext cx="1371600" cy="4114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700784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Impureté du nœud parent (ex: Gini ou Entropie)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21408"/>
            <a:ext cx="1371600" cy="4114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214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I(tₗ), I(tᵣ)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176272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Impuretés des sous-arbres gauche et droit après le split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96896"/>
            <a:ext cx="1371600" cy="4114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968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Nₗ, Nᵣ, Nₜ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651760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d'exemples dans fils gauche, fils droit, et nœud parent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72384"/>
            <a:ext cx="1371600" cy="4114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7238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127248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candidate : choix de la feature et du seuil testés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Prédiction feuille :  p̂_leaf = n_pos / (n_pos + n_neg)   →   ŷ = 𝟙(p̂_leaf ≥ 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389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clinique 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43891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variables thal, cp, ca dominent nos résultats car elles maximisent ΔI(s,t) à chaque nœud → elles contiennent le plus d'information discriminante sur la maladie cardiaque.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Principe du Boosting Séquentiel — Modèle Additif par Étapes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Fₘ(x)  =  F₀(x)  +  Σₘ₌₁ᴹ  η · hₘ(x)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83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 Séquentiel (GB)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8404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Apprenants DÉPENDANTS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hₘ corrige les erreurs de hₘ₋₁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Optimise la perte par gradient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Séquentiel → NON parallélisable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Réduit biais ET variance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Sensible aux anomalies (outliers)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projet :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n_estimators=200, learning_rate=0.05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apprentissage progressif mais mémorisation avec peu de données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783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Différence vs Bagging (RF)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194560"/>
            <a:ext cx="38404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Apprenants INDÉPENDANTS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Entraînés en parallèle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Chaque arbre sur Bootstrap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Agrégation par vote/moyenne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Réduit principalement la variance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Robuste aux outliers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n'est pas implémenté dans ce notebook — cité comme perspective.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Descente de Gradient en Espace Fonctionnel &amp; Shrinkage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en espace fonctionnel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F̂  =  argmin_F Σᵢ L(yᵢ, F(xᵢ))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47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de descente à l'étape m (pseudo-résidus)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5856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r_{im}  =  −∂L(yᵢ, F(xᵢ)) / ∂F(xᵢ)  |_{F = F_{m−1}}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535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à jour avec pas optimal (shrinkage) 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26440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26440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Fₘ(x)  =  F_{m−1}(x)  +  η·ρₘ·hₘ(x)    où    ρₘ = argmin_ρ Σᵢ L(yᵢ, F_{m−1}(xᵢ) + ρ·hₘ(xᵢ))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 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931920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(0.05) — shrinkage. Réduit la contribution de chaque arbre.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79392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ρₘ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279392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optimal par line search — minimise la perte à l'étape 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26864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hₘ(x) 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626864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faible ajusté sur les pseudo-résidus de l'étape m.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983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projet : η=0.05 impose un apprentissage progressif (shrinkage fort). Avec M=200 arbres, la complexité effective est limitée mais non nulle.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Gradient Boosting vs Random Forest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40233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402336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p̂_GB(x)  =  σ(F₀ + Σₘ η·hₘ(x))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Séquentiel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hₘ dépend de hₘ₋₁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réduire biais via corrections successives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Parallélisation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impossible (dépendance temporelle)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réduite via subsample + shrinkage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sur-apprentissage si hyperparamètres mal réglés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excellentes performances avec bon tuning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411480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(Bagging)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40233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417320"/>
            <a:ext cx="402336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p̂_RF(x)  =  (1/B) Σ_b hb(x)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993392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Parallèle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arbres indépendants sur bootstraps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réduire variance par agrégation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Parallélisation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totale (n_jobs=-1)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légèrement plus élevé que GB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plus robuste, moins de sur-apprentissage
</a:t>
            </a:r>
            <a:pPr indent="0" marL="0">
              <a:spcAft>
                <a:spcPts val="400"/>
              </a:spcAft>
              <a:buNone/>
            </a:pPr>
            <a:r>
              <a:rPr lang="en-US" sz="1100" b="1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implémenté ici — perspective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sur-apprentissage de GB (CV gap=0.138, train AUC=1.000) est cohérent avec la dynamique séquentielle de correction des erreurs sur un petit dataset.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Extension Régularisée du Gradient Boosting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 objectif régularisée (étape t)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Obj(t) = Σᵢ l(yᵢ, ŷᵢ(t−1) + fₜ(xᵢ)) + Ω(fₜ)   où   Ω(f) = γT + (λ/2)Σⱼ wⱼ²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476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Approximation de second ordre (développement de Taylor)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5856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Obj̃(t) ≈ Σᵢ [ gᵢ·fₜ(xᵢ) + (1/2)·hᵢ·fₜ(xᵢ)² ] + Ω(fₜ)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971800"/>
            <a:ext cx="7589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feuilles dans l'arbre fₜ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19272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wⱼ 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3319272"/>
            <a:ext cx="7589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(score) de la feuille j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666744"/>
            <a:ext cx="7589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sur le nombre de feuilles → limite la complexité structurelle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14216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4014216"/>
            <a:ext cx="7589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L2 sur les poids des feuilles → analogue à C dans LogReg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361688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gᵢ, hᵢ 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4361688"/>
            <a:ext cx="7589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 1er et 2ème ordre de la perte → optimisation plus précise que GB classique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8097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Statut dans ce projet 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480974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est présenté ici comme extension théorique. Il n'est PAS implémenté dans main.ipynb — perspective pour travaux futurs.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Hypothèses d'Application &amp; Risques Pratiques du Gradient Boosting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Complexité effective totale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complexité effective  ∝  η × M  =  0.05 × 200  = 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64208"/>
            <a:ext cx="109728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0078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Sensibilité aux valeurs aberrantes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02996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résidus très grands peuvent orienter excessivement les premiers arbres — les exemples difficiles reçoivent une pondération excessive dans les itérations suivantes.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87168"/>
            <a:ext cx="109728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2374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Sur-apprentissage sur petit dataset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85292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avec régularisation, GB peut mémoriser. Observé ici : Train AUC = 1.000, CV gap = 0.138. Le modèle trop puissant pour 237 exemples.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1012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10128"/>
            <a:ext cx="109728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4670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Interdépendance η × M critique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67588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learning rate trop grand (η→1) avec M élevé = sur-apprentissage garanti. Un η trop petit (η→0) avec M insuffisant = sous-apprentissage.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33088"/>
            <a:ext cx="109728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1696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de validation précoce (early stopping)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449884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early stopping, on utilise tous les M arbres même si la validation s'est dégradée. Non implémenté ici — aurait pu limiter le sur-apprentissage.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de Convergence : train_score_ &amp; staged_predict()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train_score_[m]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4023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402336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train_score[m] = (1/n)·Σᵢ L(yᵢ, Fₘ(xᵢ))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Déviance d'entraînement à chaque étape m. Permet de visualiser la courbe de convergence sur le train. Si elle descend toujours → pas encore convergé.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ici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3017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exploité explicitement dans main.ipynb → extension méthodologique.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staged_predict_proba()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353312"/>
            <a:ext cx="4023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353312"/>
            <a:ext cx="402336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AUCₘ = AUC(y, staged_predict_m(x))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9202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 les métriques de validation à chaque étape m. Permet de trouver M* optimal (nombre d'arbres qui maximise la validation).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017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ici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3017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staged_predict() non exploité dans la version actuelle — à ajouter comme diagnostic.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 pratique 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outils permettent de visualiser la convergence pas-à-pas, détecter le point où la validation se dégrade (early stopping visuel), et choisir M* optimal — prolongent les diagnostics actuels (CV gap + learning curves).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A5 — Hyperparamètres Gradient Boosting : Grille d'Impact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92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Complexité effective  ∝  η × M  |  Règle clé : réduire η → augmenter 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1691640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[50/100/200/500]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48840" y="1591056"/>
            <a:ext cx="502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5910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195681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Sous-apprentissage si η petit. Rapide, peu de capacité.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49040" y="1591056"/>
            <a:ext cx="502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5910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195681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standard pour petits datasets.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49240" y="1591056"/>
            <a:ext cx="502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5910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195681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utilisée ici. CV gap=0.138 → déjà en sur-apprentissage.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49440" y="1591056"/>
            <a:ext cx="502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5910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195681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Mémorisation quasi-certaine sur 237 exemples, sauf η très petit.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51460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514600"/>
            <a:ext cx="1691640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514600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 η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2916936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[0.001/0.01/0.1/0.3]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48840" y="2532888"/>
            <a:ext cx="640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253288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48840" y="2898648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lent. Besoin de M très élevé (5000+). Rarement utilisé seul.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49040" y="2532888"/>
            <a:ext cx="640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253288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49040" y="2898648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très progressif. Bon avec M=500-1000.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49240" y="2532888"/>
            <a:ext cx="640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253288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49240" y="2898648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Standard. Bon compromis vitesse/précision avec M=100-200.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49440" y="2532888"/>
            <a:ext cx="640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253288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49440" y="2898648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 mais risque de sur-apprentissage élevé. XGBoost défaut.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456432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456432"/>
            <a:ext cx="1691640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4564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3858768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 / 2 / 3 / 5]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148840" y="3474720"/>
            <a:ext cx="411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48840" y="34747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148840" y="384048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Stumps. Très faible, additivité pure. Lent à converger.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749040" y="3474720"/>
            <a:ext cx="411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0" y="34747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749040" y="384048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2ème ordre. Apprenant faible classique.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349240" y="3474720"/>
            <a:ext cx="411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34747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49240" y="384048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ici. Interactions 3ème ordre. Bon équilibre.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949440" y="3474720"/>
            <a:ext cx="411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34747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949440" y="384048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Arbres plus forts. Convergence rapide mais sur-apprentissage accru.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" y="438912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4389120"/>
            <a:ext cx="1691640" cy="6400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3891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65760" y="4709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[0.5 / 0.75 / 1.0]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148840" y="4407408"/>
            <a:ext cx="594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48840" y="440740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148840" y="472744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stochasticité, variance réduite. Risque sous-apprentissage.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749040" y="4407408"/>
            <a:ext cx="594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49040" y="440740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749040" y="472744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compromis stochasticité/information.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349240" y="4407408"/>
            <a:ext cx="594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49240" y="440740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349240" y="472744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ici. Quasi-complet avec légère randomisation.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949440" y="4407408"/>
            <a:ext cx="594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49440" y="440740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949440" y="472744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Déterministe. Pas de réduction de variance par subsampling.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Cadre Clinique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Médical — Maladies Cardiovasculaires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46888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17,9M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décès/an dans le monde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(OMS — maladies cardio.)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914400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960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Asymétrie critique des erreurs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560320" cy="100584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 (FN)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719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malade → NON détecté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Risque vital immédiat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 (FP)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1719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sain → classé malade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Examens supplémentaires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841248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  Conséquence directe 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27889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dépistage cardiaque, minimiser les Faux Négatifs est la priorité absolue.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09067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Recall (sensibilité) devient la métrique clé à maximiser.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de Recherche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"Quel modèle offre le meilleur compromis entre discrimination globale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(ROC-AUC) et capacité de détection (Recall) pour un usage clinique de dépistage cardiaque ?"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94560"/>
            <a:ext cx="411480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94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1 — Dépistage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maximiser le Recall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tous les patients malades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faux positifs acceptables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clé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classe 1 + F1-score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194560"/>
            <a:ext cx="41148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194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2 — Compromis global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+ interprétabilité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 avec fiabilité probabiliste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FN supplémentaires
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clé 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+ Brier score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Mesurables du Projet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822960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9966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Surpasser la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307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Battre le Dummy Classifier (most_frequent) sur toutes les métriques pertinentes (Recall, F1, ROC-AUC)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37360"/>
            <a:ext cx="822960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373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7739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évaluation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0848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modèles sur CV 5-fold stratifiée ET sur le jeu de test hold-out (80/20)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14600"/>
            <a:ext cx="822960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1460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25511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du sur-apprentissage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28620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CV gap et les courbes d'apprentissage Train/Validation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822960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918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3284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&amp; seuil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6393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 Brier score et explorer l'optimisation du seuil de décision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69080"/>
            <a:ext cx="822960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690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41056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justifiée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4165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une recommandation nuancée par scénario d'usage clinique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&amp; Préparation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UCI Cleveland — Vue d'Ensemble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brutes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19202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1460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(13 features + 1 cible)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9202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cibles (0 → 4)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12280" y="914400"/>
            <a:ext cx="19202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1228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 après nettoyage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Binarisation de la cible 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560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target_bin = 1  si  target &gt; 0  (présence de maladie)   |   target_bin = 0  si  target = 0  (absence)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54 % absence (classe 0)  vs  46 % présence (classe 1)  →  Dataset relativement équilibré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8412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Répartition après binarisation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703320"/>
            <a:ext cx="438912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30752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0 — Absence  54%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251960"/>
            <a:ext cx="374904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2793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1 — Présence  46%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Cliniques — Partie 1 : Continues &amp; Binaires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continues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1005840" cy="5943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6304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du patient (années)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1005840" cy="5943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trestbps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63040" y="2011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artérielle au repos (mm Hg)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51760"/>
            <a:ext cx="1005840" cy="5943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517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63040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Cholestérol sérique (mg/dl)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37560"/>
            <a:ext cx="1005840" cy="5943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375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thalach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63040" y="3383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cardiaque maximale atteinte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023360"/>
            <a:ext cx="1005840" cy="5943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233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oldpeak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63040" y="4069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Dépression ST induite par l'exercice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binaires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2801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280160"/>
            <a:ext cx="100584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2801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6072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: 1=homme, 0=femme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1965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965960"/>
            <a:ext cx="100584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9659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60720" y="2011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Glycémie à jeun &gt; 120 mg/dl (1=oui, 0=non)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26517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651760"/>
            <a:ext cx="100584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6517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60720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Angine induite par l'exercice (1=oui, 0=non)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Cliniques — Partie 2 : Catégorielles &amp; Discrètes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91440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99669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douleur thoracique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1=typique, 2=atypique, 3=non-angineux, 4=asymptomatique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37360"/>
            <a:ext cx="91440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373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restecg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177393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ECG au repos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17320" y="210312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0=normal, 1=anorm. onde ST-T, 2=hypertrophie VG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14600"/>
            <a:ext cx="91440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146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255117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 segment ST à l'effort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17320" y="288036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1=montante, 2=plate, 3=descendante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91440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918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32841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Nbre vaisseaux colorés fluoroscopie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417320" y="36576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2, 3  (+ 4 valeurs manquantes)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69080"/>
            <a:ext cx="91440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690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7320" y="410565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Thalassémie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417320" y="443484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3=normal, 6=défaut fixe, 7=défaut réversible  (+ 2 NaN)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864608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variables AVANT de modéliser est essentiel pour interpréter correctement les résultats et éviter les erreurs de sens.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des Données — Valeurs Manquantes &amp; Nettoyage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Valeurs manquantes détectées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 : 4 NaN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 : 2 NaN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234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2% du dataset — impact négligeable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03120"/>
            <a:ext cx="402336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de nettoyage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numérique via pd.to_numeric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lignes NaN (dropna)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297 / 303 lignes conservées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d'imputation — transparence maximale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10312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103120"/>
            <a:ext cx="4114800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03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 du choix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542032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reproductible
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lignes supprimées = 2% → pas de biais statistiquement significatif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(non implémentée) :
</a:t>
            </a:r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par la médiane ou KNNImputer si dataset plus petit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de la Cible — Avant &amp; Après Binarisation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originale (5 classes)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728216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96896" y="1417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 (54%)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039112"/>
            <a:ext cx="576072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3911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44752" y="20391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 (18%)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660904"/>
            <a:ext cx="384048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6090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52728" y="26609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 (12%)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282696"/>
            <a:ext cx="384048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8269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52728" y="32826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 (12%)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3904488"/>
            <a:ext cx="274320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0448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39044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(4%)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binarisée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417320"/>
            <a:ext cx="347472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4173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(160 obs.)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2926080"/>
            <a:ext cx="3474720" cy="1554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9260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(137 obs.)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Dataset équilibré : l'Accuracy est interprétable mais insuffisante seule.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Recall, Precision, F1, ROC-AUC en complément.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Corrélations Exploratoires — Coefficient de Pearson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r(x,y)  =  Σ(xi − x̄)(yi − ȳ)  /  √[ Σ(xi − x̄)² · Σ(yi − ȳ)² 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57276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xi, yi = valeurs des variables   |   x̄, ȳ = moyennes   |   r ∈ [−1, +1] : intensité de la relation linéaire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les plus associées à la cible (|r| &gt; 0.40) 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68803"/>
            <a:ext cx="1143000" cy="1163117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94483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950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10512" y="2966314"/>
            <a:ext cx="1143000" cy="96560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0512" y="269199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10512" y="3950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55264" y="2966314"/>
            <a:ext cx="1143000" cy="96560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269199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55264" y="3950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0016" y="2966314"/>
            <a:ext cx="1143000" cy="96560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269199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0016" y="3950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44768" y="2988259"/>
            <a:ext cx="1143000" cy="943661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2713939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4768" y="3950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oldpeak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3010205"/>
            <a:ext cx="1143000" cy="921715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2735885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3950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thalach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297680"/>
            <a:ext cx="841248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343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Limite 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54480" y="43434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mesure uniquement les corrélations LINÉAIRES. Des relations non-linéaires existent potentiellement — ce qui justifie l'emploi du Gradient Boosting.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Expérimental Train / Test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 de séparation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train — 20 % test (stratifié)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(reproductibilité garantie)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observations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719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observations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06040"/>
            <a:ext cx="6766560" cy="10972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0604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 80%  —  237 obs.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2606040"/>
            <a:ext cx="1463040" cy="10972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60604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obs.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4114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 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411480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observations test = estimations sujettes à forte variabilité. Les résultats doivent être interprétés avec prudence. La CV 5-fold reste l'estimateur principal.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Standardisation dans les Pipelines — Z-score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1148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z_i  =  (x_i − μ) / 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57276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moyenne du train  |  σ = écart-type du train  |  Estimés UNIQUEMENT sur l'ensemble d'entraînement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411480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Appliqué 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Régression Logistique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Naive Bayes Gaussien
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modèles sont sensibles à l'échelle des features.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variable à grande magnitude (ex: chol ≈ 200) dominerait sinon.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920240"/>
            <a:ext cx="4114800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appliqué 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359152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Gradient Boosting
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arbres de décision font des coupures sur des seuils.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sont invariants à l'échelle des features → la standardisation est inutile.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160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sklearn.Pipeline 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4160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StandardScaler est intégré dans un Pipeline. La moyenne et l'écart-type sont calculés sur le train UNIQUEMENT → évite le data leakage (pas de contamination des données de test).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Théorie des Modèles Implémentés</a:t>
            </a:r>
            <a:endParaRPr lang="en-US" sz="3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— Dummy Classifier (Référence Naïve)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: most_frequent  →  prédit toujours la classe majoritaire (0 = absence)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8412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841248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ŷ_i  =  mode(y_train)  pour tout i ∈ [1, n]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1965960" cy="146304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606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992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proportion classe 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2560320"/>
            <a:ext cx="1965960" cy="146304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2606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9992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1460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positif détecté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1965960" cy="146304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2606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9992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classifieur aléatoire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2560320"/>
            <a:ext cx="1965960" cy="146304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12280" y="2606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9992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1228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inutile cliniquement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de la baseline 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4251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modèle utile DOIT surpasser ces performances. Servira de point de référence dans tous les tableaux de résultats.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 — Principe &amp; Fonction Sigmoïde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Combinaison linéaire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0690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406908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 =  β₀ + β₁x₁ + β₂x₂ + … + βₚxₚ  =  βᵀx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biais (intercept)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β₁…βₚ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coefficients des features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vecteur des features du patient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 linéaire non borné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 Sigmoïde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657600"/>
            <a:ext cx="40690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657600"/>
            <a:ext cx="406908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P(y=1|x)  =  σ(z)  =  1 / (1 + e^(−z))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z ∈ ℝ en probabilité ∈ [0, 1]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 de décision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1371600"/>
            <a:ext cx="3931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371600"/>
            <a:ext cx="393192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1  si  P(y=1|x) ≥ seuil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0  sinon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Forme de la courbe sigmoïde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4114800"/>
            <a:ext cx="3474720" cy="0"/>
          </a:xfrm>
          <a:prstGeom prst="line">
            <a:avLst/>
          </a:prstGeom>
          <a:noFill/>
          <a:ln w="12700">
            <a:solidFill>
              <a:srgbClr val="1C28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2606040"/>
            <a:ext cx="0" cy="1508760"/>
          </a:xfrm>
          <a:prstGeom prst="line">
            <a:avLst/>
          </a:prstGeom>
          <a:noFill/>
          <a:ln w="12700">
            <a:solidFill>
              <a:srgbClr val="1C28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57860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3440" y="32918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400507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92040" y="4041943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26380" y="3997526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3889231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77890" y="3793844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5060" y="3663312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2230" y="3499462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3314700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46570" y="3129938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63740" y="2966088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80910" y="2835556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2740169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32420" y="2631874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66760" y="2587457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29400" y="3337560"/>
            <a:ext cx="0" cy="256032"/>
          </a:xfrm>
          <a:prstGeom prst="line">
            <a:avLst/>
          </a:prstGeom>
          <a:noFill/>
          <a:ln w="12700">
            <a:solidFill>
              <a:srgbClr val="F39C12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6309360" y="3547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seuil=0.5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 — Fonction de Coût &amp; Régularisation L2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 de coût : Log-Loss (Entropie Croisée Binaire)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J(β)  =  −(1/n) Σᵢ [ yᵢ·log(p̂ᵢ) + (1−yᵢ)·log(1−p̂ᵢ) 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 :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étiquette réelle (0 ou 1)   </a:t>
            </a:r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p̂ᵢ :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probabilité prédite   </a:t>
            </a:r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nombre d'exemples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3774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Régularisation L2 (Ridge) — utilisée dans notre notebook (penalty='l2')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743200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43200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J_reg(β)  =  J(β)  +  (1/2C) Σⱼ βⱼ²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inverse de la force de régularisation. Grand C → peu de régularisation. Petit C → forte régularisation.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1.0 (défaut)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compromis raisonnable entre flexibilité et contrainte.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de la régularisation 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40233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Pénalise les coefficients βⱼ trop grands → les features irrélevantes voient leur coefficient tendre vers 0 → réduit le sur-apprentissage sans élimination totale (contrairement à L1).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 — Hyperparamètres &amp; Interprétabilité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0116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1.0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06984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de la force de pénalité L2. Valeur par défaut scikit-learn — compromis raisonnable.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37360"/>
            <a:ext cx="20116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37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 = 'l2'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84708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Ridge : stabilise les coefficients sans en annuler. Préférable à L1 pour ce contexte.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14600"/>
            <a:ext cx="20116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146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 = 'lbfgs'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62432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Solveur quasi-Newton adapté aux petits datasets avec pénalité L2. Convergence rapide.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91840"/>
            <a:ext cx="20116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91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 = 3000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340156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maximal d'itérations. Augmenté pour garantir la convergence sur ce dataset.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clé 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42062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coefficients βⱼ sont directement interprétables → signe positif = favorise la classe 1 (présence de maladie).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526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implémenté 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4526280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de C par GridSearchCV (perspective mentionnée).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— Théorème de Bayes Appliqué à la Classification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Théorème de Bayes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P(y=c|x)  =  P(x|y=c) · P(y=c)  /  P(x)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P(y=c|x) 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probabilité a posteriori (ce qu'on cherche)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P(x|y=c) 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vraisemblance des données sachant la classe c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P(y=c) 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probabilité a priori de la classe c (fréquence observée)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évidence — constante de normalisation (même pour toutes les classes)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907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 « Naïve » — Indépendance conditionnelle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26440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6440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P(x|y=c)  =  Πⱼ P(xⱼ|y=c)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913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 de décision Naive Bayes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27024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27024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 =  argmax_c  P(y=c) · Πⱼ P(xⱼ|y=c)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d'indépendance est rarement vérifiée en pratique (les features cliniques sont corrélées). Pourtant le modèle peut très bien performer en classification binaire — confirmé sur ce dataset.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Gaussien — Modélisation des Features Continues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gaussienne de chaque feature par classe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P(xⱼ|y=c)  =  (1/√(2π·σ²ⱼc)) · exp(−(xⱼ − μⱼc)² / (2·σ²ⱼc))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118872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μⱼc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03911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 la feature j parmi tous les exemples de la classe c — estimée sur le train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87752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87752"/>
            <a:ext cx="118872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8775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σ²ⱼc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660904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de la feature j parmi les exemples de la classe c — estimée sur le train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209544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09544"/>
            <a:ext cx="118872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0954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45920" y="3282696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de la feature j pour le patient à classer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831336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31336"/>
            <a:ext cx="118872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31336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P(xⱼ|y=c)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3904488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Densité de probabilité gaussienne — vraisemblance que la feature ait cette valeur dans la classe 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var_smoothing = 1e-9 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4526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ε·max(σ²) aux variances pour éviter les divisions par zéro. Valeur par défaut scikit-learn, régularisation minimale.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— Hyperparamètres, Avantages &amp; Limites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Seul hyperparamètre : var_smoothing = 1e-9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41148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Très rapide — entraînement en O(n·p)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Fonctionne bien avec peu de données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Robuste au sur-apprentissage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Interprétable (μ et σ par classe)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 de standardisation requise en théorie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(mais appliquée ici dans Pipeline)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691640"/>
            <a:ext cx="411480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91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Théoriques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14884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Indépendance conditionnelle violée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(thal, cp, ca sont corrélées)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Hypothèse gaussienne approximative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(certaines features sont discrètes)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empirique :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ces violations, NB est compétitif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meilleur Recall sur ce dataset (0.857)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— Principe Itératif Séquentiel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d'ensemble SÉQUENTIEL : chaque arbre corrige les erreurs du précédent.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8412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841248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Initialisation :  F₀(x)  =  argmin_γ Σᵢ L(yᵢ, γ)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m = 1, 2, …, M (chaque arbre successif) 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697480"/>
            <a:ext cx="86868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97480"/>
            <a:ext cx="868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98448" y="27249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Pseudo-résidus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98448" y="30266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r_{im}  =  −∂L(yᵢ, F_{m−1}(xᵢ)) / ∂F_{m−1}(xᵢ)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98448" y="3026664"/>
            <a:ext cx="42976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30266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r_{im}  =  −∂L(yᵢ, F_{m−1}(xᵢ)) / ∂F_{m−1}(xᵢ)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négatif de la perte — direction de correction maximale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74720"/>
            <a:ext cx="86868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74720"/>
            <a:ext cx="868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98448" y="35021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Ajuster hₘ(x)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98448" y="38039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hₘ(x) ajusté sur les pseudo-résidus r_{im}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98448" y="3803904"/>
            <a:ext cx="42976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38039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hₘ(x) ajusté sur les pseudo-résidus r_{im}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0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 faible qui apprend à prédire les erreurs résiduelles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51960"/>
            <a:ext cx="86868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51960"/>
            <a:ext cx="868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98448" y="4279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à jour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98448" y="45811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Fₘ(x)  =  F_{m−1}(x)  +  η · hₘ(x)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98448" y="4581144"/>
            <a:ext cx="42976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45811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Fₘ(x)  =  F_{m−1}(x)  +  η · hₘ(x)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0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learning rate (0.05) — régule la contribution de chaque arbre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— Fonction de Perte &amp; Pseudo-Résidus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 de perte pour classification binaire : Déviance (Log-Loss)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L(y, F(x))  =  −[ y·log(p) + (1−y)·log(1−p) ]  où  p = σ(F(x)) = 1/(1+e^(−F(x)))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933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Pseudo-résidus pour la déviance (dérivée par rapport à F(x))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35000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50008"/>
            <a:ext cx="83210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r_i  =  yᵢ − pᵢ  =  yᵢ − σ(F_{m−1}(xᵢ))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étiquette réelle (0 ou 1)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pᵢ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probabilité prédite par le modèle courant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rᵢ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résidu = erreur résiduelle = signal de correction pour l'arbre suivant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F_{m−1}(x)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score additif cumulé jusqu'à l'étape m−1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38862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rᵢ est grand (ex: yᵢ=1 mais pᵢ=0.1 → rᵢ=0.9), le patient est mal classé → le prochain arbre apprendra à corriger fortement cet exemple.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572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projet 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4572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loss='deviance' est le défaut dans scikit-learn GradientBoostingClassifier. Chaque arbre apprend à réduire cette erreur résiduelle.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— Mécanismes de Régularisation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5603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rate η = 0.05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Fₘ = F_{m−1} + η·hₘ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63240" y="109728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la contribution de chaque arbre. Petit η impose plus d'arbres mais un apprentissage plus doux et stable.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25603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11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depth =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4414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Apprenants faibles (profondeur limitée)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63240" y="210312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arbre capture des interactions simples (3 niveaux max). Limite la complexité par arbre.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25603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samples leaf = 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4472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Chaque feuille ≥ 5 exemples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63240" y="31089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 la création de feuilles « pures » basées sur 1-2 exemples → régularisation des feuilles terminales.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77640"/>
            <a:ext cx="25603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23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 = 0.9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453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Chaque arbre = 90% du train (aléatoire)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63240" y="411480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Stochasticité similaire au bagging. Réduit la variance. 90% conserve la plupart de l'information.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5029200"/>
            <a:ext cx="841248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 : η × M = 0.05 × 200 = 10 — compromis modéré. Malgré ces 4 régularisations cumulées, le sur-apprentissage persiste sur ce petit dataset.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— Hyperparamètres &amp; Risques sur Petit Dataset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286000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 = 200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051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d'arbres. Compromis capacité/sur-apprentissage. Plus d'arbres = plus de capacité mais plus de risque de mémorisation.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73352"/>
            <a:ext cx="2286000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7335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 = 0.05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7647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douce. Force un apprentissage incrémental. Combiné à n_estimators=200, donne un budget total modéré.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86584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86584"/>
            <a:ext cx="2286000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86584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=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47802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maximale de chaque arbre. Apprenants faibles intentionnels. Interactions jusqu'au 3ème ordre.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99816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99816"/>
            <a:ext cx="2286000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9981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 =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19125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les feuilles basées sur trop peu d'exemples. Régularise les décisions terminales.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13048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13048"/>
            <a:ext cx="2286000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1304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 = 0.9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390448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d'exemples utilisée pour chaque arbre. Introduit de la stochasticité → réduit la variance.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617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Risque observé 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46177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 = 1.000 — mémorisation complète. GB sur-apprend malgré 5 mécanismes de régularisation → petit dataset (237 exemples) insuffisant pour ce modèle complexe.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Théorique des 3 Modèles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9601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960120"/>
            <a:ext cx="2103120" cy="475488"/>
          </a:xfrm>
          <a:prstGeom prst="rect">
            <a:avLst/>
          </a:prstGeom>
          <a:solidFill>
            <a:srgbClr val="2471A3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184" y="9601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2103120" cy="475488"/>
          </a:xfrm>
          <a:prstGeom prst="rect">
            <a:avLst/>
          </a:prstGeom>
          <a:solidFill>
            <a:srgbClr val="1E8449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9601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960120"/>
            <a:ext cx="2103120" cy="475488"/>
          </a:xfrm>
          <a:prstGeom prst="rect">
            <a:avLst/>
          </a:prstGeom>
          <a:solidFill>
            <a:srgbClr val="E74C3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1424" y="9601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472184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4721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0" y="1472184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14721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 discriminatif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472184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4721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Probabiliste génératif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66560" y="1472184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14721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non-linéaire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1984248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19842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0" y="1984248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15184" y="19842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(coefficients βⱼ)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984248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19842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(μ, σ par classe)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1984248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19842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(boîte noire)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496312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4963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sur-appr.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2496312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5184" y="24963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(reg. L2)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2496312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24963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66560" y="2496312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1424" y="24963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 (séquentiel)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008376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30083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Sensibilité échelle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0" y="3008376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15184" y="30083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StandardScaler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3008376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30083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StandardScaler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66560" y="3008376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21424" y="30083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→ invariant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3520440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35204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clé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560320" y="3520440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15184" y="35204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Séparabilité linéaire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63440" y="3520440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35204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Indépendance features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766560" y="3520440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21424" y="35204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hypothèse forte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65760" y="4032504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" y="403250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560320" y="4032504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15184" y="403250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O(n·p)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663440" y="4032504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03250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O(n·p)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766560" y="4032504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21424" y="403250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O(M·n·p·log n)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65760" y="4544568"/>
            <a:ext cx="21031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" y="45445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hyperparamètres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560320" y="4544568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15184" y="45445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(C, solver)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663440" y="4544568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18304" y="45445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(var_smoothing)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766560" y="4544568"/>
            <a:ext cx="2103120" cy="475488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21424" y="45445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Nombreux (5+)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 Expérimental &amp; Métriques</a:t>
            </a:r>
            <a:endParaRPr lang="en-US" sz="3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— La Matrice de Confusion : Base de Tout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0" y="548640"/>
            <a:ext cx="22860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0" y="5486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POSITIF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548640"/>
            <a:ext cx="22860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5486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NÉGATIF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005840"/>
            <a:ext cx="2286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005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POSITIF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920240"/>
            <a:ext cx="2286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NÉGATIF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2286000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005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(Vrai Positif)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1005840"/>
            <a:ext cx="2286000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005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(Faux Négatif)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920240"/>
            <a:ext cx="22860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(Faux Positif)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1920240"/>
            <a:ext cx="2286000" cy="9144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(Vrai Négatif)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 + FN + FP + VN = n (total exemples test = 60)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8412480" cy="15087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474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 clinique 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840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(Vrai Positif) 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3840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malade détecté comme malade → bonne détection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840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(Faux Négatif) 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3840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malade classé sain → RISQUE VITAL — à minimiser en priorité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343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(Faux Positif) 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43434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sain classé malade → examens supplémentaires, coût modéré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4343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(Vrai Négatif) 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43434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sain classé sain → bonne spécificité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— Accuracy, Précision &amp; Recall (Sensibilité)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09728" cy="12618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5097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(Exactitude)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0" y="950976"/>
            <a:ext cx="33375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9509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= (VP + VN) / (VP + VN + FP + FN)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VP + VN : prédictions correctes (vrais positifs + vrais négatifs)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6184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: nombre total d'exemples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8470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Valeur : entre 0 et 1 — 1 = parfait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 si classes déséquilibrées. Ici 54/46 → interprétable mais insuffisante seule.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04288"/>
            <a:ext cx="109728" cy="12618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4086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Précision (Valeur Prédictive Positive)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2340864"/>
            <a:ext cx="33375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34086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= VP / (VP + FP)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77977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VP : vrais positifs — patients malades correctement détectés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00837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 : faux positifs — patients sains classés malades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323697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Interprétation : parmi les prédictions positives, combien sont correctes 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33101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les fausses alertes. Haute précision = peu de FP. Peut être sacrifiée en dépistage.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94176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94176"/>
            <a:ext cx="109728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307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(Sensibilité / Taux de Vrais Positifs)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03520" y="3730752"/>
            <a:ext cx="33375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73075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= VP / (VP + FN)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416966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VP : patients malades détectés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439826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FN : patients malades MANQUÉS → risque vital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62686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Interprétation : parmi les vrais malades, combien sont détectés 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4700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PRIORITAIRE en dépistage cardiaque. Minimiser FN = maximiser le Recall.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— F1-Score &amp; Spécificité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40233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89888"/>
            <a:ext cx="402336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F₁ = 2 · (Precision · Recall) / (Precision + Recall)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harmonique :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favorise les valeurs basses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Precision ≫ Recall :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F1 pénalise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Precision ≈ Recall :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F1 ≈ moyenne arithmétique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0 → 1 :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= compromis parfait Précision-Recall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: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quand il faut équilibrer faux positifs et faux négatifs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Spécificité (TNR)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389888"/>
            <a:ext cx="40233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389888"/>
            <a:ext cx="402336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Spécificité = VN / (VN + FP)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993392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vrais négatifs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combien identifiés correctement ?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 haute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peu de patients sains classés malades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projet :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: 0.906 — LogReg : 0.875 — GB : 0.844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(sur le jeu de test)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FP = patient sain orienté vers examens → coût modéré (FN bien plus critique ici)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clinique 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43891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patient malade non détecté → risque vital → PRIORITÉ RECALL.  FP = patient sain envoyé en examens → coût modéré. En dépistage : tolérer FP pour minimiser FN.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— ROC-AUC : Définition Mathématique &amp; Interprétation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 ROC : TPR vs FPR pour chaque seuil t ∈ [0, 1]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TPR(t) = P(p̂ ≥ t | y=1)     FPR(t) = P(p̂ ≥ t | y=0)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47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Aire sous la courbe (AUC)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67712"/>
            <a:ext cx="8321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67712"/>
            <a:ext cx="83210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∫₀¹ TPR(FPR⁻¹(x)) dx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724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 probabiliste 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044952"/>
            <a:ext cx="8321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44952"/>
            <a:ext cx="83210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P(p̂_positif &gt; p̂_négatif)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593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 :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classifieur aléatoire (baseline Dummy)   </a:t>
            </a:r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1.0 :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classifieur parfait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4069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Dummy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434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514600" y="402336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14600" y="4069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4434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63440" y="402336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4069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4434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0.938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12280" y="4023360"/>
            <a:ext cx="201168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12280" y="4069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4434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65760" y="499262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clé : l'AUC est indépendante du seuil de décision → mesure la qualité du classement pur, non de la décision.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 — Validation Croisée Stratifiée (StratifiedKFold, K=5)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CV moyen :  S̄ = (1/K) Σₖ₌₁ᴷ Sₖ     où  Sₖ = score (ROC-AUC) sur le fold 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du 5-fold stratifié sur 237 exemples train 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88720" y="2011680"/>
            <a:ext cx="137160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011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2011680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011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011680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011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2011680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011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2011680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011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523744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88720" y="2523744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25237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2523744"/>
            <a:ext cx="137160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5237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523744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25237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523744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5237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40880" y="2523744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5237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03580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88720" y="3035808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30358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51760" y="3035808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30358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0" y="3035808"/>
            <a:ext cx="137160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30358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3035808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30358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3035808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30358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354787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88720" y="3547872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88720" y="35478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51760" y="3547872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51760" y="35478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0" y="3547872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0" y="35478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77840" y="3547872"/>
            <a:ext cx="137160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35478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40880" y="3547872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35478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4059936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188720" y="4059936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88720" y="40599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651760" y="4059936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51760" y="40599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114800" y="4059936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0" y="40599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577840" y="4059936"/>
            <a:ext cx="1371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77840" y="40599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40880" y="4059936"/>
            <a:ext cx="137160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40880" y="40599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02920" y="4617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stratifié ?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468880" y="46177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237 exemples train, un fold non stratifié pourrait avoir une répartition déséquilibrée → estimations instables. La stratification préserve 54%/46% dans chaque fold.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Gap — Diagnostic du Sur-apprentissage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 du CV Gap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CV_gap  =  S̄_train  −  S̄_test     où  S̄ = ROC-AUC moyen sur les K folds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109728" cy="5303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CV_gap ≈ 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0574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compromis biais-variance → le modèle généralise bien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109728" cy="5303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CV_gap ≫ 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6517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Sur-apprentissage → le modèle mémorise les données d'entraînement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54680"/>
            <a:ext cx="109728" cy="53035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CV_gap &lt;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32461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— possible avec forte régularisation ou fort bruit dans les données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38221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du projet 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5902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0.031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514600" y="4206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1460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14600" y="45902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0.047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663440" y="4206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45902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0.138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12280" y="4206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1228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Dummy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45902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— Brier Score : Calibration des Probabilités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41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Formule du Brier Score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Brier  =  (1/n) Σᵢ (p̂ᵢ − yᵢ)²     Brier ∈ [0, 1]  —  0 = calibration parfaite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p̂ᵢ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probabilité prédite par le modèle pour l'exemple i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étiquette réelle (0 ou 1)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quadratique 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 modèle qui prédit p̂=0.9 pour un patient malade (y=1) contribue (0.9−1)²=0.01. Un modèle qui prédit 0.1 contribue 0.81.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841248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clinique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8803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modèle prédit p̂=0.70 pour un groupe de patients, environ 70% devraient réellement être positifs. Le Brier mesure cet écart.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611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041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" y="46085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— bien calibré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5661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611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4041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0.098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00400" y="46085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Proche de LogReg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35661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3611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4041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035040" y="46085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bien calibré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— Validation Croisée (5-Fold)</a:t>
            </a:r>
            <a:endParaRPr lang="en-US" sz="3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Complets — Validation Croisée 5-Fold (ROC-AUC)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1031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6012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14600" y="960120"/>
            <a:ext cx="13716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51176" y="9601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31920" y="960120"/>
            <a:ext cx="12801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68496" y="9601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Recall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57800" y="960120"/>
            <a:ext cx="109728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94376" y="96012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960120"/>
            <a:ext cx="13716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9601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18120" y="960120"/>
            <a:ext cx="11887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54696" y="96012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1481328"/>
            <a:ext cx="210312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481328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1481328"/>
            <a:ext cx="137160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51176" y="1481328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1481328"/>
            <a:ext cx="128016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68496" y="1481328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1481328"/>
            <a:ext cx="109728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94376" y="148132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481328"/>
            <a:ext cx="137160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1481328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18120" y="1481328"/>
            <a:ext cx="118872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54696" y="1481328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139696"/>
            <a:ext cx="210312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2139696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14600" y="2139696"/>
            <a:ext cx="137160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51176" y="2139696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31920" y="2139696"/>
            <a:ext cx="128016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68496" y="2139696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57800" y="2139696"/>
            <a:ext cx="109728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94376" y="2139696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2139696"/>
            <a:ext cx="137160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37376" y="2139696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818120" y="2139696"/>
            <a:ext cx="118872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54696" y="2139696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0.047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2798064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2798064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14600" y="2798064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51176" y="2798064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0.869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931920" y="2798064"/>
            <a:ext cx="1280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68496" y="2798064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0.826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57800" y="2798064"/>
            <a:ext cx="1097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94376" y="2798064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0.846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0" y="2798064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37376" y="2798064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0.862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818120" y="2798064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54696" y="2798064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0.138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65760" y="3456432"/>
            <a:ext cx="210312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336" y="3456432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Dummy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514600" y="3456432"/>
            <a:ext cx="137160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51176" y="3456432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0.541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931920" y="3456432"/>
            <a:ext cx="128016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68496" y="3456432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257800" y="3456432"/>
            <a:ext cx="109728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94376" y="3456432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00800" y="3456432"/>
            <a:ext cx="137160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37376" y="3456432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818120" y="3456432"/>
            <a:ext cx="1188720" cy="594360"/>
          </a:xfrm>
          <a:prstGeom prst="rect">
            <a:avLst/>
          </a:prstGeom>
          <a:solidFill>
            <a:srgbClr val="F4F8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54696" y="3456432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02920" y="42793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clés :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468880" y="427939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modèles surpassent la baseline. NB ≈ LogReg &gt; GB en AUC. Paradoxe : GB a la meilleure Accuracy (0.869) mais le pire CV gap (0.138) → l'Accuracy seule est trompeuse.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— Naive Bayes : Meilleur Compromis Biais-Variance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 : 0.870 (meilleur)  |  CV gap : 0.031 (le plus faible)  |  Train AUC moyen : ~0.901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0.827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05740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0.808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4904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4068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0.870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13232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CV gap (0.031)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modèle ne mémorise pas — bonne généralisation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d'indépendance violée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features cliniques sont corrélées (thal/cp/ca). Pourtant NB reste compétitif.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classification binaire avec peu de features, la violation de l'indépendance n'empêche pas un bon classement relatif des probabilités.
</a:t>
            </a:r>
            <a:pPr indent="0" marL="0">
              <a:spcAft>
                <a:spcPts val="500"/>
              </a:spcAft>
              <a:buNone/>
            </a:pPr>
            <a:r>
              <a:rPr lang="en-US" sz="115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implémenté :</a:t>
            </a:r>
            <a:pPr indent="0" marL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tuning de var_smoothing.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— Régression Logistique : Très Proche de Naive Bayes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 : 0.869  |  CV gap : 0.047  |  Train AUC moyen : ~0.916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0.823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05740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0.790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4904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4068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0.869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13232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0.047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 : 0.047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compromis correct — légère sur-estimation sur le train mais raisonnable.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L2 (C=1.0)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contient le sur-apprentissage — les coefficients βⱼ ne divergent pas.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 ~0.916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modèle apprend sans mémoriser — profil sain.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distinctif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coefficients βⱼ directement interprétables → utilisables pour expliquer la décision au clinicien.
</a:t>
            </a:r>
            <a:pPr indent="0" marL="0">
              <a:spcAft>
                <a:spcPts val="500"/>
              </a:spcAft>
              <a:buNone/>
            </a:pPr>
            <a:r>
              <a:rPr lang="en-US" sz="115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implémenté :</a:t>
            </a:r>
            <a:pPr indent="0" marL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GridSearchCV sur C.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— Gradient Boosting : Sur-apprentissage Confirmé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 : 0.862  |  CV gap : 0.138 ← signal fort  |  Train AUC = 1.000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0.869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05740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0.826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4904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0.846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40680" y="16916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0.862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132320" y="1691640"/>
            <a:ext cx="1554480" cy="128016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1214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 = 1.000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mémorisation COMPLÈTE des données d'entraînement.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 = 0.138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plus élevé des 3 modèles → sur-apprentissage structurel.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probable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237 exemples train insuffisants pour GB avec 200 arbres.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Paradoxe Accuracy :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GB a la meilleure Accuracy CV (0.869) mais le pire AUC et le plus fort sur-apprentissage → l'Accuracy seule est trompeuse.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Régularisations tentées :</a:t>
            </a:r>
            <a:pPr indent="0" marL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max_depth=3, min_samples_leaf=5, subsample=0.9 — insuffisantes.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— Validation Croisée : Classements &amp; Paradoxes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0116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Robustesse (CV gap)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069848"/>
            <a:ext cx="320040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069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98648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0.031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069848"/>
            <a:ext cx="32004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69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01768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 0.047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069848"/>
            <a:ext cx="32004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069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04888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0.138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194560"/>
            <a:ext cx="20116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1945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Discrimination (ROC-AUC)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14600" y="2304288"/>
            <a:ext cx="320040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98648" y="23317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0.870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2304288"/>
            <a:ext cx="32004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01768" y="23317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 0.869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2304288"/>
            <a:ext cx="32004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04888" y="23317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0.862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429000"/>
            <a:ext cx="20116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4290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CV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14600" y="3538728"/>
            <a:ext cx="32004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3538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898648" y="35661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0.869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3538728"/>
            <a:ext cx="320040" cy="3200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3538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01768" y="35661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0.827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20840" y="3538728"/>
            <a:ext cx="320040" cy="3200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3538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04888" y="35661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 0.823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4709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Paradoxe GB 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0312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a la meilleure Accuracy CV mais le pire AUC et le plus fort sur-apprentissage. L'Accuracy n'est pas une métrique suffisante pour évaluer un modèle clinique.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— Jeu de Test Hold-out</a:t>
            </a:r>
            <a:endParaRPr lang="en-US" sz="3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Complets — Jeu de Test (60 observations)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8288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601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12848" y="960120"/>
            <a:ext cx="8229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96012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81528" y="960120"/>
            <a:ext cx="9144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96012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41648" y="960120"/>
            <a:ext cx="8229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96012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10328" y="960120"/>
            <a:ext cx="100584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960120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61888" y="960120"/>
            <a:ext cx="7315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960120"/>
            <a:ext cx="67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39128" y="960120"/>
            <a:ext cx="9144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96012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99248" y="960120"/>
            <a:ext cx="7315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960120"/>
            <a:ext cx="67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CV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481328"/>
            <a:ext cx="182880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481328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12848" y="1481328"/>
            <a:ext cx="82296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1481328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81528" y="1481328"/>
            <a:ext cx="91440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1481328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41648" y="1481328"/>
            <a:ext cx="82296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1481328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10328" y="1481328"/>
            <a:ext cx="100584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481328"/>
            <a:ext cx="950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61888" y="1481328"/>
            <a:ext cx="7315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1481328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39128" y="1481328"/>
            <a:ext cx="91440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1481328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99248" y="1481328"/>
            <a:ext cx="7315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26680" y="1481328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+0.080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2103120"/>
            <a:ext cx="182880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103120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12848" y="2103120"/>
            <a:ext cx="82296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0280" y="2103120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081528" y="2103120"/>
            <a:ext cx="91440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21031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041648" y="2103120"/>
            <a:ext cx="82296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69080" y="2103120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10328" y="2103120"/>
            <a:ext cx="100584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2103120"/>
            <a:ext cx="950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961888" y="2103120"/>
            <a:ext cx="73152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9320" y="2103120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39128" y="2103120"/>
            <a:ext cx="91440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21031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0.938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99248" y="2103120"/>
            <a:ext cx="73152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26680" y="2103120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+0.068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272491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2724912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212848" y="2724912"/>
            <a:ext cx="822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40280" y="2724912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0.817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081528" y="2724912"/>
            <a:ext cx="914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2724912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041648" y="2724912"/>
            <a:ext cx="822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69080" y="2724912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0.786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910328" y="2724912"/>
            <a:ext cx="1005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0" y="2724912"/>
            <a:ext cx="950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0.844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961888" y="2724912"/>
            <a:ext cx="731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89320" y="2724912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739128" y="2724912"/>
            <a:ext cx="914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66560" y="2724912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0.905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699248" y="2724912"/>
            <a:ext cx="731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26680" y="2724912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+0.043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" y="3346704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" y="3346704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Dummy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212848" y="3346704"/>
            <a:ext cx="822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40280" y="3346704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0.533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081528" y="3346704"/>
            <a:ext cx="914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108960" y="3346704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041648" y="3346704"/>
            <a:ext cx="822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69080" y="3346704"/>
            <a:ext cx="768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910328" y="3346704"/>
            <a:ext cx="1005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37760" y="3346704"/>
            <a:ext cx="950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961888" y="3346704"/>
            <a:ext cx="731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89320" y="3346704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739128" y="3346704"/>
            <a:ext cx="914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66560" y="3346704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0.500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699248" y="3346704"/>
            <a:ext cx="731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726680" y="3346704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20040" y="4114800"/>
            <a:ext cx="845820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meilleur Recall (0.857) → dépistage    |    LogReg meilleur ROC-AUC (0.950) → compromis global    |    GB en retrait sur toutes les métriques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Matrices de Confusion — Comparaison des 4 Modèles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206240" cy="34747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Dummy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164592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VP: 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1325880"/>
            <a:ext cx="164592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FN: 28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164592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11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FP: 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2011680"/>
            <a:ext cx="164592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011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VN: 32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914400"/>
            <a:ext cx="420624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120640" y="1325880"/>
            <a:ext cx="164592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VP: 22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1325880"/>
            <a:ext cx="164592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FN: 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2011680"/>
            <a:ext cx="164592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011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FP: 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49440" y="2011680"/>
            <a:ext cx="164592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011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VN: 26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29260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926080"/>
            <a:ext cx="420624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26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3337560"/>
            <a:ext cx="164592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337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VP: 24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468880" y="3337560"/>
            <a:ext cx="164592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3337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FN: 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4023360"/>
            <a:ext cx="164592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FP: 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468880" y="4023360"/>
            <a:ext cx="164592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VN: 29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29260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2926080"/>
            <a:ext cx="4206240" cy="3474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926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120640" y="3337560"/>
            <a:ext cx="164592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3337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VP: 22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949440" y="3337560"/>
            <a:ext cx="164592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3337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FN: 6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120640" y="4023360"/>
            <a:ext cx="164592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FP: 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49440" y="4023360"/>
            <a:ext cx="164592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VN: 28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Critique — Faux Négatifs vs Faux Positifs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dépistage : chaque FN = un patient malade NON détecté → risque vital. Minimiser les FN est la priorité.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1737360" cy="7132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MEILLEUR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6093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: 4 / 28 malades = 14.3% non détectés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95681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: 3 patients sains classés malades (examens supplémentaires)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682496"/>
            <a:ext cx="326571" cy="4572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4531" y="17099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77440"/>
            <a:ext cx="1737360" cy="71323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7744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24140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: 6 / 28 malades = 21.4% non détectés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27614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: 4 patients sains classés malades (examens supplémentaires)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2487168"/>
            <a:ext cx="489857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7817" y="2514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8211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82112"/>
            <a:ext cx="1737360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8211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218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: 6 / 28 malades = 21.4% non détectés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94560" y="3566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: 6 patients sains classés malades (examens supplémentaires)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291840"/>
            <a:ext cx="489857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7817" y="331927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986784"/>
            <a:ext cx="1737360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986784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Dummy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INUTILE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4023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: 28 / 28 malades = 100.0% non détectés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94560" y="43708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: 0 patients sains classés malades (examens supplémentaires)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4096512"/>
            <a:ext cx="228600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412394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Courbes ROC — Comparaison des Discriminants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754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 ROC (schéma)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4114800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0" cy="315468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(1−Spécificité)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365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(Recall)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4114800" cy="-3154680"/>
          </a:xfrm>
          <a:prstGeom prst="line">
            <a:avLst/>
          </a:prstGeom>
          <a:noFill/>
          <a:ln w="12700">
            <a:solidFill>
              <a:srgbClr val="5D6D7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22960" y="4572000"/>
            <a:ext cx="205740" cy="-2208276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8700" y="2363724"/>
            <a:ext cx="205740" cy="-473202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1890522"/>
            <a:ext cx="411480" cy="-252374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1638148"/>
            <a:ext cx="3291840" cy="-220828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572000"/>
            <a:ext cx="288036" cy="-2050542"/>
          </a:xfrm>
          <a:prstGeom prst="line">
            <a:avLst/>
          </a:prstGeom>
          <a:noFill/>
          <a:ln w="31750">
            <a:solidFill>
              <a:srgbClr val="1E84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" y="2521458"/>
            <a:ext cx="329184" cy="-536296"/>
          </a:xfrm>
          <a:prstGeom prst="line">
            <a:avLst/>
          </a:prstGeom>
          <a:noFill/>
          <a:ln w="31750">
            <a:solidFill>
              <a:srgbClr val="1E84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180" y="1985162"/>
            <a:ext cx="411480" cy="-252374"/>
          </a:xfrm>
          <a:prstGeom prst="line">
            <a:avLst/>
          </a:prstGeom>
          <a:noFill/>
          <a:ln w="31750">
            <a:solidFill>
              <a:srgbClr val="1E84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51660" y="1732788"/>
            <a:ext cx="3086100" cy="-315468"/>
          </a:xfrm>
          <a:prstGeom prst="line">
            <a:avLst/>
          </a:prstGeom>
          <a:noFill/>
          <a:ln w="31750">
            <a:solidFill>
              <a:srgbClr val="1E84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572000"/>
            <a:ext cx="411480" cy="-1735074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2836926"/>
            <a:ext cx="411480" cy="-630936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2205990"/>
            <a:ext cx="411480" cy="-378562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1827428"/>
            <a:ext cx="2880360" cy="-410108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7800" y="91440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49240" y="9601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AUC (test)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49240" y="141732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49240" y="1417320"/>
            <a:ext cx="9144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14538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1810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0.950 — Meilleur discriminant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9240" y="228600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49240" y="2286000"/>
            <a:ext cx="91440" cy="7498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23225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32120" y="26791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0.938 — Très proche LogReg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49240" y="315468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49240" y="3154680"/>
            <a:ext cx="91440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31912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3547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0.905 — En retrait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49240" y="402336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49240" y="4023360"/>
            <a:ext cx="91440" cy="749808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40599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Dummy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32120" y="44165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0.500 — Aléatoire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différence LogReg/NB est faible → choix final dépend des priorités cliniques.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la courbe est proche du coin supérieur gauche, meilleure est la discrimination.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Rapports de Classification — Focus Classe 1 (Présence de Maladie)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classe 1 (présence de maladie) est la classe d'intérêt en dépistage — ses métriques sont les plus critiques.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19456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50876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508760"/>
            <a:ext cx="15544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150876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Cl.1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508760"/>
            <a:ext cx="15544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88536" y="150876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Cl.1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1508760"/>
            <a:ext cx="128016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88736" y="150876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Cl.1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1508760"/>
            <a:ext cx="15544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0336" y="150876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984248"/>
            <a:ext cx="219456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984248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1984248"/>
            <a:ext cx="155448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8336" y="198424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1984248"/>
            <a:ext cx="155448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8536" y="198424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1984248"/>
            <a:ext cx="128016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88736" y="1984248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1984248"/>
            <a:ext cx="155448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0336" y="198424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624328"/>
            <a:ext cx="219456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624328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Logistique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51760" y="2624328"/>
            <a:ext cx="155448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88336" y="262432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51960" y="2624328"/>
            <a:ext cx="155448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88536" y="262432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2624328"/>
            <a:ext cx="128016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88736" y="2624328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23760" y="2624328"/>
            <a:ext cx="1554480" cy="56692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0336" y="262432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3264408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264408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51760" y="3264408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88336" y="326440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51960" y="3264408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88536" y="326440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52160" y="3264408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8736" y="3264408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223760" y="3264408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0336" y="326440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3547872"/>
            <a:ext cx="841248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02920" y="3593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: Recall = 0.857 ← meilleur (4 FN sur 28 positifs — 14.3% de malades manqués)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3886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: Recall = 0.786 (6 FN) — mais meilleur ROC-AUC global (0.950) et meilleur Brier score (0.094)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solidFill>
            <a:srgbClr val="FDECE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02920" y="43616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Recall de la classe 1 est la métrique la plus critique pour le dépistage cardiaque. Chaque point de Recall représente des vies potentiellement sauvées.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des Variables — GB vs Régression Logistique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 Feature Importance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371600"/>
            <a:ext cx="700888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26768" y="137160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2029968"/>
            <a:ext cx="662483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29968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88363" y="202996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0160" y="2688336"/>
            <a:ext cx="396850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88336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22730" y="2688336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80160" y="3346704"/>
            <a:ext cx="361645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46704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87525" y="334670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80160" y="4005072"/>
            <a:ext cx="304038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oldpeak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29918" y="4005072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LogReg |Coefficients|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1371600"/>
            <a:ext cx="2365096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37160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85736" y="137160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2029968"/>
            <a:ext cx="1625803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029968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46443" y="202996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0.508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74920" y="2688336"/>
            <a:ext cx="3065983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688336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86623" y="2688336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74920" y="3346704"/>
            <a:ext cx="118415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346704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9055" y="334670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74920" y="4005072"/>
            <a:ext cx="1420978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00507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oldpeak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41618" y="4005072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5166360"/>
            <a:ext cx="841248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" y="5001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récurrentes dans les 2 modèles : thal, cp, ca → convergence rassurante des deux approches.  |  age importante pour GB mais pas LogReg → interaction non-linéaire captée par les arbres.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Cohérence CV–Test : Les Deltas &amp; Fiabilité du Protocole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Δ positifs (0.043 → 0.080) indiquent que les performances test sont légèrement supérieures aux estimations CV — variabilité du petit échantillon test (60 obs.).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201168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664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 : 0.870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2029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: 0.938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0992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+0.068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0" y="18013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 en CV &amp; 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78608"/>
            <a:ext cx="201168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78608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2670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 : 0.869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3035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: 0.950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71576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+0.080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28072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 en CV &amp; Test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8444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84448"/>
            <a:ext cx="201168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84448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3675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 : 0.862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14600" y="4041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: 0.905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7216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+0.043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58000" y="3813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 en CV &amp; Test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rang est préservé entre CV et test : NB et LogReg dominent dans les deux évaluations. La cohérence des rangs est un signal fort de fiabilité du protocole expérimental.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Critique Avancée</a:t>
            </a:r>
            <a:endParaRPr lang="en-US" sz="3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des Probabilités — Courbes &amp; Brier Scores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Brier Score = (1/n) Σᵢ (p̂ᵢ − yᵢ)²     Brier ∈ [0, 1] — 0 = parfait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64208"/>
            <a:ext cx="109728" cy="8961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007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0756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— Meilleur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7393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51960" y="177393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bien calibrées. Un score de 0.7 correspond à ~70% de vrais positifs dans ce groupe.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70048"/>
            <a:ext cx="109728" cy="8961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7066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0815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— Très proche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77977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251960" y="277977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Légèrement moins calibré mais très compétitif. L'indépendance naïve n'affecte pas trop la calibration.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75888"/>
            <a:ext cx="109728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7124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087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— Moins bon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78561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0.128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251960" y="378561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moins bien calibrées. Lié au sur-apprentissage. Les probabilités GB sont moins fiables pour des décisions à seuil variable.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clinique, un modèle bien calibré permet de dire au médecin : 'Ce patient a 70% de risque de maladie cardiaque' avec confiance → crucial pour la décision thérapeutique.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Exploratoire du Seuil de Décision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défaut : seuil t = 0.5  →  si p̂ ≥ 0.5, prédit positif. L'optimisation du seuil modifie ce compromis Précision/Recall.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11480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Procédure d'optimisation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les probabilités p̂ sur le test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la courbe Précision vs Recall pour t ∈ [0, 1]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t* qui maximise le Recall
   avec Précision encore acceptable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pour Naive Bayes :
   t* = 0.151 (vs t=0.5 par défaut)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: à t=0.151, NB classe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positive toute probabilité &gt; 15.1%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54480"/>
            <a:ext cx="411480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5544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Mise en Garde Obligatoire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011680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seuil est ajusté sur le jeu de test actuel
→ Analyse EXPLORATOIRE uniquement.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estimation non biaisée :
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Fixer le seuil sur un ensemble de VALIDATION séparé
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Évaluer la performance sur un TEST externe indépendant
</a:t>
            </a:r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cette précaution, le seuil optimisé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être trop optimiste (sélection sur le test).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9194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fondamentale : ROC-AUC = qualité du classement (indépendant du seuil). Seuil optimisé = choix de la décision clinique (dépend du contexte et des priorités).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Courbes d'Apprentissage — Diagnostic Biais-Variance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S_train(n) − S_val(n) → 0 quand n → ∞ : le modèle ne sur-apprend pas.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109728" cy="8961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09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24912" y="1627632"/>
            <a:ext cx="146304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6276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0" y="166420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et validation convergent rapidement. Le gap diminue avec plus de données. Bon compromis biais-variance. Le modèle n'a pas besoin de plus de données pour améliorer sa généralisation.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78608"/>
            <a:ext cx="109728" cy="8961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151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24912" y="2633472"/>
            <a:ext cx="1463040" cy="3474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26334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0" y="267004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profil que NB. Convergence des courbes train/validation. La régularisation L2 contrôle efficacement la complexité. Stable et prévisible.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8444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84448"/>
            <a:ext cx="109728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6210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24912" y="3639312"/>
            <a:ext cx="146304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4912" y="36393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PERSISTANT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0" y="367588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 train/validation PERSISTE même avec plus de données → sur-apprentissage structurel. Le modèle continue à mémoriser le train sans améliorer la validation. Signal de complexité excessive.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et LogReg convergent → profil adapté à ce petit dataset (237 train). GB gap persistant → preuve #2 du sur-apprentissage structurel.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— 3 Preuves Convergentes du Sur-apprentissage de GB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diagnostic de sur-apprentissage de Gradient Boosting est robuste car soutenu par 3 évidences indépendantes et convergentes.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914400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914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9888" y="1609344"/>
            <a:ext cx="7223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Gap élevé (Section F)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89888" y="193852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 CV gap = 0.138 &gt;&gt; NB = 0.031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219456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perform bien sur le train mais mal en validation cross → mémorisation. NB et LogReg ont des gaps 3-5× plus faibles.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78608"/>
            <a:ext cx="914400" cy="8961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78608"/>
            <a:ext cx="914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89888" y="2615184"/>
            <a:ext cx="7223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Curves divergentes (Section H)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89888" y="294436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train/validation persiste quand n augmente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89888" y="320040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NB et LogReg, les courbes convergent. Pour GB, le gap reste élevé même avec plus de données → sur-apprentissage structurel.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58444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84448"/>
            <a:ext cx="914400" cy="8961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84448"/>
            <a:ext cx="914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89888" y="3621024"/>
            <a:ext cx="7223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Performances Test en retrait (Section G)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89888" y="395020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 test AUC = 0.905 vs NB = 0.938 et LogReg = 0.950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89888" y="420624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des performances CV correctes, GB est le dernier sur le test. Cohérent avec un modèle qui généralise mal.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Naive Bayes et Régression Logistique ont un profil plus adapté à ce petit dataset (297 observations).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l'Étude — Transparence &amp; Honnêteté Scientifique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188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Taille du dataset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 observations, 60 en test → estimations sujettes à forte variabilité statistique. Les intervalles de confiance des métriques sont larges.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109728" cy="1188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1005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de validation externe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47488" y="13716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résultats proviennent d'un seul dataset (Cleveland). La généralisation à d'autres populations n'est pas garantie.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109728" cy="11887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31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tuning hyperparamètres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26974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GridSearchCV ni RandomizedSearchCV. Les performances, notamment GB, pourraient être améliorées avec un tuning systématique.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286000"/>
            <a:ext cx="109728" cy="1188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331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Seuil exploratoire biaisé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47488" y="26974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optimisé (t*=0.151) est ajusté sur le test → estimation optimiste. Nécessite une validation externe pour être fiable.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11880"/>
            <a:ext cx="109728" cy="118872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Hypothèses modèles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0233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Indépendance NB violée (features corrélées). Linéarité LogReg potentiellement limitante pour capturer les interactions complexes.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11880"/>
            <a:ext cx="109728" cy="118872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6576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de tests statistiques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47488" y="40233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différence entre modèles n'est pas testée formellement (McNemar non implémenté). On ne peut pas conclure à une différence significative.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Validité &amp; Reproductibilité du Protocole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188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Reproductibilité garantie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partout → résultats identiques à chaque exécution du notebook. Science ouverte et vérifiable.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109728" cy="1188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1005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Pipeline sans data leakage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47488" y="13716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intégré dans sklearn.Pipeline → la moyenne et l'écart-type du train ne contaminent pas les données de test.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109728" cy="1188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31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Baseline Dummy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26974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réel mesuré, non trivial — tous les modèles battent la baseline sur toutes les métriques pertinentes.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286000"/>
            <a:ext cx="109728" cy="1188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331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CV stratifiée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47488" y="26974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Proportions de classes préservées dans chaque fold → estimations stables sur ce dataset déséquilibré à 54/46.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11880"/>
            <a:ext cx="109728" cy="1188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Métriques complémentaires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0233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Recall + Précision + F1 + ROC-AUC + Brier score → vision complète, pas de biais vers une seule métrique.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11880"/>
            <a:ext cx="109728" cy="11887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6576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Règles d'or respectées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47488" y="40233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chiffre annoncé absent du notebook. Aucun tableau incomplet. Chaque méthode non implémentée signalée explicitement.</a:t>
            </a:r>
            <a:endParaRPr lang="en-US" sz="10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Recommandations</a:t>
            </a:r>
            <a:endParaRPr lang="en-US" sz="3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Opérationnelle — Par Scénario d'Usage Clinique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1 — Dépistage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NAIVE BAYES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8404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0.857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seulement 4 FN sur 28 malades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0.873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meilleur compromis sur le test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 = 0.031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très robuste, pas de sur-apprentissage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= 0.098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bien calibré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utilisable en temps réel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 des malades manqués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21.4% pour LogReg et GB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4114800" cy="47548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1440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2 — Compromis Global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RÉGRESSION LOGISTIQUE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2057400"/>
            <a:ext cx="38404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= 0.950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meilleur discriminant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= 0.094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meilleure calibration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βⱼ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interprétables pour le médecin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 = 0.047 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compromis correct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directe :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'ca augmente le risque de 0.958 logit'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communicable au clinicien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5029200"/>
            <a:ext cx="841248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Gradient Boosting : NON RECOMMANDÉ en l'état — sur-apprentissage démontré par 3 preuves. Pourrait bénéficier d'un tuning d'hyperparamètres (non implémenté).</a:t>
            </a:r>
            <a:endParaRPr lang="en-US" sz="10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— Extensions Non Implémentées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8961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9669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global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36245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/ RandomizedSearchCV pour tous les modèles — potentiel d'amélioration significatif pour GB.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109728" cy="8961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99669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externe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47488" y="136245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sur d'autres cohortes UCI (Hungarian, Swiss, VA) pour vérifier la généralisation.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65960"/>
            <a:ext cx="109728" cy="8961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00253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post-hoc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236829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(régression logistique sur les scores) ou isotonic regression pour améliorer les Brier scores.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96596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965960"/>
            <a:ext cx="109728" cy="8961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00253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Net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47488" y="236829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α·L1 + (1−α)·L2 pour combiner sélection de features (L1) et stabilité (L2) — non directement applicable ici.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71800"/>
            <a:ext cx="109728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0837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statistiques formels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33741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McNemar pour comparer formellement les classifieurs. Actuellement, les différences ne sont pas testées statistiquement.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97180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971800"/>
            <a:ext cx="109728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00837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values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47488" y="33741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Explicabilité individuelle — comprendre pourquoi un patient spécifique est classé positif. Crucial pour l'acceptation clinique.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97764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977640"/>
            <a:ext cx="109728" cy="8961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01421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répétée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437997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répété (ex: 10 répétitions × 5 folds) pour des estimations plus stables sur ce petit dataset.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97764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977640"/>
            <a:ext cx="109728" cy="8961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401421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&amp; Random Forest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47488" y="437997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les extensions régularisées du boosting (XGBoost) et le bagging (RF) pour comparaison complète.</a:t>
            </a:r>
            <a:endParaRPr lang="en-US" sz="10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Réponses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822960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7335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"Naive Bayes pour dépister · Régression Logistique pour décider · Gradient Boosting à éviter sans tuning."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Fondation présentée : ID3 / C4.5 / CART (socle théorique des arbres faibles de GB)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présenté comme extension théorique — NON implémenté dans main.ipynb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preuves convergentes du sur-apprentissage de GB : CV gap + learning curves + performances test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8862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Distinction ROC-AUC (classement) vs seuil (décision clinique) maintenue tout au long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434840"/>
            <a:ext cx="8229600" cy="502920"/>
          </a:xfrm>
          <a:prstGeom prst="rect">
            <a:avLst/>
          </a:prstGeom>
          <a:solidFill>
            <a:srgbClr val="2471A3">
              <a:alpha val="70000"/>
            </a:srgbClr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46227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de backup disponibles : définitions, justifications, méthodologie complète, analyse critique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de Maladies Cardiaques</dc:title>
  <dc:subject>PptxGenJS Presentation</dc:subject>
  <dc:creator>Projet Machine Learning</dc:creator>
  <cp:lastModifiedBy>Projet Machine Learning</cp:lastModifiedBy>
  <cp:revision>1</cp:revision>
  <dcterms:created xsi:type="dcterms:W3CDTF">2026-04-20T22:16:09Z</dcterms:created>
  <dcterms:modified xsi:type="dcterms:W3CDTF">2026-04-20T22:16:09Z</dcterms:modified>
</cp:coreProperties>
</file>