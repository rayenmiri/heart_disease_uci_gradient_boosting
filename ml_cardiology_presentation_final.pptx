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notesMasterIdLst>
    <p:notesMasterId r:id="rId7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1B4F72">
              <a:alpha val="28000"/>
            </a:srgbClr>
          </a:solidFill>
          <a:ln w="12700">
            <a:solidFill>
              <a:srgbClr val="1B4F72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274320"/>
            <a:ext cx="1828800" cy="1828800"/>
          </a:xfrm>
          <a:prstGeom prst="ellipse">
            <a:avLst/>
          </a:prstGeom>
          <a:solidFill>
            <a:srgbClr val="2471A3">
              <a:alpha val="35000"/>
            </a:srgbClr>
          </a:solidFill>
          <a:ln w="12700">
            <a:solidFill>
              <a:srgbClr val="2471A3">
                <a:alpha val="4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8412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de Maladies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Cardiaques par Machine Learning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 ·  Naive Bayes  ·  Régression Logistique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rigoureuse de trois modèles pour le dépistage cardiaque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UCI Cleveland — 297 observations — Validation croisée 5-fold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Machine Learning  ·  Soutenance académique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la Présentation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60120"/>
            <a:ext cx="347472" cy="62179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347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996696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Cadre clinique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1719072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719072"/>
            <a:ext cx="347472" cy="62179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719072"/>
            <a:ext cx="347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175564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&amp; Préparation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" y="2478024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478024"/>
            <a:ext cx="347472" cy="62179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478024"/>
            <a:ext cx="347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2514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Théorie des modèles (avec formules)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1480" y="3236976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236976"/>
            <a:ext cx="347472" cy="62179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236976"/>
            <a:ext cx="347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327355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Fondations : Arbres, Boosting &amp; XGBoost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11480" y="3995928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3995928"/>
            <a:ext cx="347472" cy="62179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995928"/>
            <a:ext cx="347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4032504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expérimental &amp; Métriques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800600" y="960120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960120"/>
            <a:ext cx="347472" cy="62179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960120"/>
            <a:ext cx="347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12080" y="996696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— Validation croisée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800600" y="1719072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1719072"/>
            <a:ext cx="347472" cy="62179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1719072"/>
            <a:ext cx="347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12080" y="175564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— Jeu de test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800600" y="2478024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2478024"/>
            <a:ext cx="347472" cy="62179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2478024"/>
            <a:ext cx="347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212080" y="2514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critique avancée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800600" y="3236976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00600" y="3236976"/>
            <a:ext cx="347472" cy="62179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3236976"/>
            <a:ext cx="347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12080" y="327355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0D1B2A">
              <a:alpha val="40000"/>
            </a:srgbClr>
          </a:solidFill>
          <a:ln w="12700">
            <a:solidFill>
              <a:srgbClr val="0D1B2A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6400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50292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Cadre Clinique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Médical — Maladies Cardiovasculaires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468880" cy="164592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17,9M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décès/an dans le monde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(OMS — maladies cardio.)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08960" y="914400"/>
            <a:ext cx="56692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9601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Asymétrie critique des erreurs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560320" cy="1005840"/>
          </a:xfrm>
          <a:prstGeom prst="rect">
            <a:avLst/>
          </a:prstGeom>
          <a:solidFill>
            <a:srgbClr val="FDECE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417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Négatif (FN)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171907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malade → NON détecté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Risque vital immédiat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2560320" cy="100584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0760" y="1417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Positif (FP)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80760" y="171907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sain → classé malade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Examens supplémentaires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8412480" cy="82296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2788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⚕  Conséquence directe 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68880" y="278892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dépistage cardiaque, minimiser les Faux Négatifs est la priorité absolue.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3090672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 Recall (sensibilité) devient la métrique clé à maximiser.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de Recherche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"Quel modèle offre le meilleur compromis entre discrimination globale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i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(ROC-AUC) et capacité de détection (Recall) pour un usage clinique de dépistage cardiaque ?"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4114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194560"/>
            <a:ext cx="4114800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1945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SCÉNARIO 1 — Dépistage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: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maximiser le Recall
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détecter tous les patients malades
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Tolérance :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quelques faux positifs acceptables
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 clé :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classe 1 + F1-score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2194560"/>
            <a:ext cx="4114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194560"/>
            <a:ext cx="411480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21945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SCÉNARIO 2 — Compromis global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260604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: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discrimination + interprétabilité
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classer avec fiabilité probabiliste
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Tolérance :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quelques FN supplémentaires
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 clé :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+ Brier score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Mesurables du Projet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822960" cy="6858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99669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Surpasser la baseline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13075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Battre le Dummy Classifier (most_frequent) sur toutes les métriques pertinentes (Recall, F1, ROC-AUC)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737360"/>
            <a:ext cx="822960" cy="6858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3736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177393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 évaluation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25880" y="20848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les modèles sur CV 5-fold stratifiée ET sur le jeu de test hold-out (80/20)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51460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514600"/>
            <a:ext cx="822960" cy="6858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51460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255117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 du sur-apprentissage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28620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le CV gap et les courbes d'apprentissage Train/Validation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291840"/>
            <a:ext cx="822960" cy="6858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29184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332841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 &amp; seuil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25880" y="363931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le Brier score et explorer l'optimisation du seuil de décision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06908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069080"/>
            <a:ext cx="822960" cy="6858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06908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25880" y="410565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 justifiée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25880" y="44165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Produire une recommandation nuancée par scénario d'usage clinique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0D1B2A">
              <a:alpha val="40000"/>
            </a:srgbClr>
          </a:solidFill>
          <a:ln w="12700">
            <a:solidFill>
              <a:srgbClr val="0D1B2A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6400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50292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Données &amp; Préparation</a:t>
            </a:r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UCI Cleveland — Vue d'Ensemble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92024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303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brutes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14600" y="914400"/>
            <a:ext cx="192024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0058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514600" y="17373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(13 features + 1 cible)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192024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0058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663440" y="17373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cibles (0 → 4)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12280" y="914400"/>
            <a:ext cx="192024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10058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297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812280" y="17373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Obs. après nettoyage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514600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2560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Binarisation de la cible 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25603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target_bin = 1  si  target &gt; 0  (présence de maladie)   |   target_bin = 0  si  target = 0  (absence)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2926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54 % absence (classe 0)  vs  46 % présence (classe 1)  →  Dataset relativement équilibré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291840"/>
            <a:ext cx="8412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337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Répartition après binarisation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703320"/>
            <a:ext cx="4389120" cy="4572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730752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0 — Absence  54%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4251960"/>
            <a:ext cx="3749040" cy="4572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27939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1 — Présence  46%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Cliniques — Partie 1 : Continues &amp; Binaires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continues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1005840" cy="59436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463040" y="13258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du patient (années)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65960"/>
            <a:ext cx="1005840" cy="59436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6596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trestbps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463040" y="20116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Pression artérielle au repos (mm Hg)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65176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651760"/>
            <a:ext cx="1005840" cy="59436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65176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463040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Cholestérol sérique (mg/dl)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33756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337560"/>
            <a:ext cx="1005840" cy="59436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33756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thalach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463040" y="33832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Fréquence cardiaque maximale atteinte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02336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4023360"/>
            <a:ext cx="1005840" cy="59436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2336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oldpeak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463040" y="40690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Dépression ST induite par l'exercice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6344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binaires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128016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1280160"/>
            <a:ext cx="1005840" cy="5943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128016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sex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760720" y="13258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Sexe : 1=homme, 0=femme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196596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1965960"/>
            <a:ext cx="1005840" cy="5943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196596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fbs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760720" y="20116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Glycémie à jeun &gt; 120 mg/dl (1=oui, 0=non)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63440" y="265176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2651760"/>
            <a:ext cx="1005840" cy="5943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265176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exang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760720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Angine induite par l'exercice (1=oui, 0=non)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Cliniques — Partie 2 : Catégorielles &amp; Discrètes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914400" cy="6858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17320" y="996696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 douleur thoracique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417320" y="1325880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1=typique, 2=atypique, 3=non-angineux, 4=asymptomatique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737360"/>
            <a:ext cx="914400" cy="6858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3736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restecg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17320" y="1773936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ECG au repos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417320" y="2103120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0=normal, 1=anorm. onde ST-T, 2=hypertrophie VG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51460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514600"/>
            <a:ext cx="914400" cy="6858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51460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slope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17320" y="2551176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 segment ST à l'effort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417320" y="2880360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1=montante, 2=plate, 3=descendante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291840"/>
            <a:ext cx="914400" cy="6858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29184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17320" y="3328416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Nbre vaisseaux colorés fluoroscopie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417320" y="3657600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 1, 2, 3  (+ 4 valeurs manquantes)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06908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069080"/>
            <a:ext cx="914400" cy="6858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06908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417320" y="4105656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Thalassémie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417320" y="4434840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3=normal, 6=défaut fixe, 7=défaut réversible  (+ 2 NaN)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4864608"/>
            <a:ext cx="8229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les variables AVANT de modéliser est essentiel pour interpréter correctement les résultats et éviter les erreurs de sens.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Qualité des Données — Valeurs Manquantes &amp; Nettoyage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Valeurs manquantes détectées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 : 4 NaN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91840" y="1325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thal : 2 NaN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0" y="12344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2% du dataset — impact négligeable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40233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103120"/>
            <a:ext cx="4023360" cy="3657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103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Stratégie de nettoyage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542032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numérique via pd.to_numeric
</a:t>
            </a:r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des lignes NaN (dropna)
</a:t>
            </a:r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297 / 303 lignes conservées
</a:t>
            </a:r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d'imputation — transparence maximale
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2103120"/>
            <a:ext cx="4114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2103120"/>
            <a:ext cx="4114800" cy="3657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103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Justification du choix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542032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&amp; reproductible
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lignes supprimées = 2% → pas de biais statistiquement significatif
</a:t>
            </a:r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(non implémentée) :
</a:t>
            </a:r>
            <a:pPr indent="0" marL="0">
              <a:spcAft>
                <a:spcPts val="500"/>
              </a:spcAft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 par la médiane ou KNNImputer si dataset plus petit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de la Cible — Avant &amp; Après Binarisation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originale (5 classes)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1728216" cy="38404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96896" y="14173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  (54%)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2039112"/>
            <a:ext cx="576072" cy="384048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39112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44752" y="203911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 (18%)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2660904"/>
            <a:ext cx="384048" cy="384048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60904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52728" y="266090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 (12%)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3282696"/>
            <a:ext cx="384048" cy="384048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82696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52728" y="328269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 (12%)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" y="3904488"/>
            <a:ext cx="274320" cy="384048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904488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" y="390448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(4%)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91440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960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binarisée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1417320"/>
            <a:ext cx="3474720" cy="13716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41732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Absence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54%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(160 obs.)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46320" y="2926080"/>
            <a:ext cx="3474720" cy="15544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92608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Présence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46%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(137 obs.)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Dataset équilibré : l'Accuracy est interprétable mais insuffisante seule.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Recall, Precision, F1, ROC-AUC en complément.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Corrélations Exploratoires — Coefficient de Pearson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r(x,y)  =  Σ(xi − x̄)(yi − ȳ)  /  √[ Σ(xi − x̄)² · Σ(yi − ȳ)² 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37360" y="1572768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xi, yi = valeurs des variables   |   x̄, ȳ = moyennes   |   r ∈ [−1, +1] : intensité de la relation linéaire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les plus associées à la cible (|r| &gt; 0.40) 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768803"/>
            <a:ext cx="1143000" cy="1163117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494483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95020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10512" y="2966314"/>
            <a:ext cx="1143000" cy="96560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10512" y="2691994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10512" y="395020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55264" y="2966314"/>
            <a:ext cx="1143000" cy="96560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55264" y="2691994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55264" y="395020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0016" y="2966314"/>
            <a:ext cx="1143000" cy="965606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0016" y="2691994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0016" y="395020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44768" y="2988259"/>
            <a:ext cx="1143000" cy="943661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44768" y="2713939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44768" y="395020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oldpeak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589520" y="3010205"/>
            <a:ext cx="1143000" cy="921715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0" y="2735885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89520" y="395020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thalach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297680"/>
            <a:ext cx="8412480" cy="685800"/>
          </a:xfrm>
          <a:prstGeom prst="rect">
            <a:avLst/>
          </a:prstGeom>
          <a:solidFill>
            <a:srgbClr val="FEF9E7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" y="43434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Limite 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554480" y="434340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mesure uniquement les corrélations LINÉAIRES. Des relations non-linéaires existent potentiellement — ce qui justifie l'emploi du Gradient Boosting.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Expérimental Train / Test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Protocole de séparation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80 % train — 20 % test (stratifié)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7190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 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0" y="1719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(reproductibilité garantie)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1371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Entraînement 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237 observations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17190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6480" y="1719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observations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514600"/>
            <a:ext cx="8412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606040"/>
            <a:ext cx="6766560" cy="10972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06040"/>
            <a:ext cx="6766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 80%  —  237 obs.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0" y="2606040"/>
            <a:ext cx="1463040" cy="10972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260604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obs.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069080"/>
            <a:ext cx="8412480" cy="822960"/>
          </a:xfrm>
          <a:prstGeom prst="rect">
            <a:avLst/>
          </a:prstGeom>
          <a:solidFill>
            <a:srgbClr val="FDECE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4114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Limitation 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03120" y="4114800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observations test = estimations sujettes à forte variabilité. Les résultats doivent être interprétés avec prudence. La CV 5-fold reste l'estimateur principal.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Standardisation dans les Pipelines — Z-score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4114800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z_i  =  (x_i − μ) / σ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37360" y="1572768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moyenne du train  |  σ = écart-type du train  |  Estimés UNIQUEMENT sur l'ensemble d'entraînement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20240"/>
            <a:ext cx="4114800" cy="3657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20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Appliqué à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359152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Régression Logistique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Naive Bayes Gaussien
</a:t>
            </a:r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modèles sont sensibles à l'échelle des features.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variable à grande magnitude (ex: chol ≈ 200) dominerait sinon.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92024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920240"/>
            <a:ext cx="4114800" cy="3657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920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 appliqué à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2359152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Gradient Boosting
</a:t>
            </a:r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arbres de décision font des coupures sur des seuils.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sont invariants à l'échelle des features → la standardisation est inutile.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114800"/>
            <a:ext cx="8412480" cy="77724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4160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sklearn.Pipeline 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40280" y="41605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StandardScaler est intégré dans un Pipeline. La moyenne et l'écart-type sont calculés sur le train UNIQUEMENT → évite le data leakage (pas de contamination des données de test).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0D1B2A">
              <a:alpha val="40000"/>
            </a:srgbClr>
          </a:solidFill>
          <a:ln w="12700">
            <a:solidFill>
              <a:srgbClr val="0D1B2A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6400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50292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Théorie des Modèles Implémentés</a:t>
            </a:r>
            <a:endParaRPr lang="en-US" sz="3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— Dummy Classifier (Référence Naïve)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: most_frequent  →  prédit toujours la classe majoritaire (0 = absence)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841248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828800"/>
            <a:ext cx="8412480" cy="5486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ŷ_i  =  mode(y_train)  pour tout i ∈ [1, n]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560320"/>
            <a:ext cx="1965960" cy="1463040"/>
          </a:xfrm>
          <a:prstGeom prst="rect">
            <a:avLst/>
          </a:prstGeom>
          <a:solidFill>
            <a:srgbClr val="FDECE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26060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99923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54 %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" y="36118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proportion classe 0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14600" y="2560320"/>
            <a:ext cx="1965960" cy="1463040"/>
          </a:xfrm>
          <a:prstGeom prst="rect">
            <a:avLst/>
          </a:prstGeom>
          <a:solidFill>
            <a:srgbClr val="FDECE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14600" y="26060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14600" y="299923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514600" y="36118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positif détecté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2560320"/>
            <a:ext cx="1965960" cy="1463040"/>
          </a:xfrm>
          <a:prstGeom prst="rect">
            <a:avLst/>
          </a:prstGeom>
          <a:solidFill>
            <a:srgbClr val="FDECE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26060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ROC-AUC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299923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0.500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663440" y="36118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classifieur aléatoire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12280" y="2560320"/>
            <a:ext cx="1965960" cy="1463040"/>
          </a:xfrm>
          <a:prstGeom prst="rect">
            <a:avLst/>
          </a:prstGeom>
          <a:solidFill>
            <a:srgbClr val="FDECE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12280" y="26060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F1-score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12280" y="299923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812280" y="36118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inutile cliniquement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206240"/>
            <a:ext cx="8412480" cy="64008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4251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de la baseline 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68880" y="42519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modèle utile DOIT surpasser ces performances. Servira de point de référence dans tous les tableaux de résultats.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Régression Logistique — Principe &amp; Fonction Sigmoïde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206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Combinaison linéaire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406908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71600"/>
            <a:ext cx="4069080" cy="5486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 =  β₀ + β₁x₁ + β₂x₂ + … + βₚxₚ  =  βᵀx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β₀ :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biais (intercept)
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β₁…βₚ :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coefficients des features
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: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vecteur des features du patient
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: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score linéaire non borné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 Sigmoïde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3657600"/>
            <a:ext cx="406908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657600"/>
            <a:ext cx="4069080" cy="5486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P(y=1|x)  =  σ(z)  =  1 / (1 + e^(−z))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251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 z ∈ ℝ en probabilité ∈ [0, 1]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9601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Règle de décision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1371600"/>
            <a:ext cx="393192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371600"/>
            <a:ext cx="3931920" cy="7772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 = 1  si  P(y=1|x) ≥ seuil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 = 0  sinon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286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71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Forme de la courbe sigmoïde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4114800"/>
            <a:ext cx="3474720" cy="0"/>
          </a:xfrm>
          <a:prstGeom prst="line">
            <a:avLst/>
          </a:prstGeom>
          <a:noFill/>
          <a:ln w="12700">
            <a:solidFill>
              <a:srgbClr val="1C28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37760" y="2606040"/>
            <a:ext cx="0" cy="1508760"/>
          </a:xfrm>
          <a:prstGeom prst="line">
            <a:avLst/>
          </a:prstGeom>
          <a:noFill/>
          <a:ln w="12700">
            <a:solidFill>
              <a:srgbClr val="1C28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4023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257860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63440" y="329184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63440" y="400507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892040" y="4041943"/>
            <a:ext cx="91440" cy="914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26380" y="3997526"/>
            <a:ext cx="91440" cy="914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60720" y="3889231"/>
            <a:ext cx="91440" cy="914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77890" y="3793844"/>
            <a:ext cx="91440" cy="914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95060" y="3663312"/>
            <a:ext cx="91440" cy="914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12230" y="3499462"/>
            <a:ext cx="91440" cy="914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29400" y="3314700"/>
            <a:ext cx="91440" cy="914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46570" y="3129938"/>
            <a:ext cx="91440" cy="914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63740" y="2966088"/>
            <a:ext cx="91440" cy="914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80910" y="2835556"/>
            <a:ext cx="91440" cy="914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98080" y="2740169"/>
            <a:ext cx="91440" cy="914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32420" y="2631874"/>
            <a:ext cx="91440" cy="914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66760" y="2587457"/>
            <a:ext cx="91440" cy="914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29400" y="3337560"/>
            <a:ext cx="0" cy="256032"/>
          </a:xfrm>
          <a:prstGeom prst="line">
            <a:avLst/>
          </a:prstGeom>
          <a:noFill/>
          <a:ln w="12700">
            <a:solidFill>
              <a:srgbClr val="F39C12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6309360" y="35478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seuil=0.5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Régression Logistique — Fonction de Coût &amp; Régularisation L2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418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 de coût : Log-Loss (Entropie Croisée Binaire)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83210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80160"/>
            <a:ext cx="832104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J(β)  =  −(1/n) Σᵢ [ yᵢ·log(p̂ᵢ) + (1−yᵢ)·log(1−p̂ᵢ) 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yᵢ :</a:t>
            </a:r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étiquette réelle (0 ou 1)   </a:t>
            </a:r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p̂ᵢ :</a:t>
            </a:r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probabilité prédite   </a:t>
            </a:r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:</a:t>
            </a:r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nombre d'exemples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8412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37744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Régularisation L2 (Ridge) — utilisée dans notre notebook (penalty='l2')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2743200"/>
            <a:ext cx="83210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743200"/>
            <a:ext cx="832104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J_reg(β)  =  J(β)  +  (1/2C) Σⱼ βⱼ²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337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: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inverse de la force de régularisation. Grand C → peu de régularisation. Petit C → forte régularisation.
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1.0 (défaut) :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compromis raisonnable entre flexibilité et contrainte.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977640"/>
            <a:ext cx="8412480" cy="82296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4023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de la régularisation 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402336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Pénalise les coefficients βⱼ trop grands → les features irrélevantes voient leur coefficient tendre vers 0 → réduit le sur-apprentissage sans élimination totale (contrairement à L1).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Régression Logistique — Hyperparamètres &amp; Interprétabilité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01168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1.0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68880" y="106984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de la force de pénalité L2. Valeur par défaut scikit-learn — compromis raisonnable.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737360"/>
            <a:ext cx="201168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373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penalty = 'l2'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184708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Pénalité Ridge : stabilise les coefficients sans en annuler. Préférable à L1 pour ce contexte.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51460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514600"/>
            <a:ext cx="201168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51460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solver = 'lbfgs'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262432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Solveur quasi-Newton adapté aux petits datasets avec pénalité L2. Convergence rapide.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291840"/>
            <a:ext cx="201168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2918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max_iter = 3000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68880" y="340156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maximal d'itérations. Augmenté pour garantir la convergence sur ce dataset.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4160520"/>
            <a:ext cx="8412480" cy="68580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4206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 clé 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03120" y="420624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coefficients βⱼ sont directement interprétables → signe positif = favorise la classe 1 (présence de maladie).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5262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implémenté 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03120" y="4526280"/>
            <a:ext cx="649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de C par GridSearchCV (perspective mentionnée).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Bayes — Théorème de Bayes Appliqué à la Classification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418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D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Théorème de Bayes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83210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98448"/>
            <a:ext cx="832104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P(y=c|x)  =  P(x|y=c) · P(y=c)  /  P(x)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P(y=c|x) 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probabilité a posteriori (ce qu'on cherche)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P(x|y=c) 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vraisemblance des données sachant la classe c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P(y=c) 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probabilité a priori de la classe c (fréquence observée)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P(x) 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évidence — constante de normalisation (même pour toutes les classes)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880360"/>
            <a:ext cx="841248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9077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D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Hypothèse « Naïve » — Indépendance conditionnelle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3264408"/>
            <a:ext cx="83210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264408"/>
            <a:ext cx="832104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P(x|y=c)  =  Πⱼ P(xⱼ|y=c)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886200"/>
            <a:ext cx="841248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9136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D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Règle de décision Naive Bayes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4270248"/>
            <a:ext cx="83210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4270248"/>
            <a:ext cx="832104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  =  argmax_c  P(y=c) · Πⱼ P(xⱼ|y=c)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L'hypothèse d'indépendance est rarement vérifiée en pratique (les features cliniques sont corrélées). Pourtant le modèle peut très bien performer en classification binaire — confirmé sur ce dataset.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Bayes Gaussien — Modélisation des Features Continues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418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D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gaussienne de chaque feature par classe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83210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98448"/>
            <a:ext cx="832104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P(xⱼ|y=c)  =  (1/√(2π·σ²ⱼc)) · exp(−(xⱼ − μⱼc)² / (2·σ²ⱼc))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65960"/>
            <a:ext cx="1188720" cy="54864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659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μⱼc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45920" y="2039112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de la feature j parmi tous les exemples de la classe c — estimée sur le train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587752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587752"/>
            <a:ext cx="1188720" cy="54864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587752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σ²ⱼc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45920" y="2660904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de la feature j parmi les exemples de la classe c — estimée sur le train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209544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209544"/>
            <a:ext cx="1188720" cy="54864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209544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xⱼ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45920" y="3282696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de la feature j pour le patient à classer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3831336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831336"/>
            <a:ext cx="1188720" cy="54864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831336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P(xⱼ|y=c)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45920" y="3904488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Densité de probabilité gaussienne — vraisemblance que la feature ait cette valeur dans la classe c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4480560"/>
            <a:ext cx="8412480" cy="54864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4526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var_smoothing = 1e-9 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0" y="45262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 ε·max(σ²) aux variances pour éviter les divisions par zéro. Valeur par défaut scikit-learn, régularisation minimale.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Bayes — Hyperparamètres, Avantages &amp; Limites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Seul hyperparamètre : var_smoothing = 1e-9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41148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91640"/>
            <a:ext cx="411480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916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Avantages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14884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Très rapide — entraînement en O(n·p)
</a:t>
            </a:r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Fonctionne bien avec peu de données
</a:t>
            </a:r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Robuste au sur-apprentissage
</a:t>
            </a:r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Interprétable (μ et σ par classe)
</a:t>
            </a:r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Pas de standardisation requise en théorie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(mais appliquée ici dans Pipeline)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691640"/>
            <a:ext cx="41148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691640"/>
            <a:ext cx="411480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6916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Théoriques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214884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Indépendance conditionnelle violée
</a:t>
            </a:r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(thal, cp, ca sont corrélées)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Hypothèse gaussienne approximative
</a:t>
            </a:r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(certaines features sont discrètes)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empirique :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Malgré ces violations, NB est compétitif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meilleur Recall sur ce dataset (0.857)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 — Principe Itératif Séquentiel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 d'ensemble SÉQUENTIEL : chaque arbre corrige les erreurs du précédent.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841248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45920"/>
            <a:ext cx="8412480" cy="5486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Initialisation :  F₀(x)  =  argmin_γ Σᵢ L(yᵢ, γ)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71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 m = 1, 2, …, M (chaque arbre successif) 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69748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697480"/>
            <a:ext cx="86868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697480"/>
            <a:ext cx="868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98448" y="272491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Pseudo-résidus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98448" y="302666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r_{im}  =  −∂L(yᵢ, F_{m−1}(xᵢ)) / ∂F_{m−1}(xᵢ)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298448" y="3026664"/>
            <a:ext cx="429768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98448" y="302666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r_{im}  =  −∂L(yᵢ, F_{m−1}(xᵢ)) / ∂F_{m−1}(xᵢ)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9280" y="2834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négatif de la perte — direction de correction maximale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47472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474720"/>
            <a:ext cx="86868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474720"/>
            <a:ext cx="868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298448" y="350215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Ajuster hₘ(x)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98448" y="380390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hₘ(x) ajusté sur les pseudo-résidus r_{im}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298448" y="3803904"/>
            <a:ext cx="429768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98448" y="380390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hₘ(x) ajusté sur les pseudo-résidus r_{im}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669280" y="3611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de décision faible qui apprend à prédire les erreurs résiduelles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25196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251960"/>
            <a:ext cx="86868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251960"/>
            <a:ext cx="868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298448" y="42793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Mise à jour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298448" y="458114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Fₘ(x)  =  F_{m−1}(x)  +  η · hₘ(x)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298448" y="4581144"/>
            <a:ext cx="429768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98448" y="458114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Fₘ(x)  =  F_{m−1}(x)  +  η · hₘ(x)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669280" y="4389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= learning rate (0.05) — régule la contribution de chaque arbre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 — Fonction de Perte &amp; Pseudo-Résidus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4183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D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 de perte pour classification binaire : Déviance (Log-Loss)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83210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98448"/>
            <a:ext cx="832104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L(y, F(x))  =  −[ y·log(p) + (1−y)·log(1−p) ]  où  p = σ(F(x)) = 1/(1+e^(−F(x)))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841248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99339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ED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Pseudo-résidus pour la déviance (dérivée par rapport à F(x))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350008"/>
            <a:ext cx="83210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350008"/>
            <a:ext cx="832104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r_i  =  yᵢ − pᵢ  =  yᵢ − σ(F_{m−1}(xᵢ))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94436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yᵢ :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étiquette réelle (0 ou 1)
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pᵢ :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probabilité prédite par le modèle courant
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rᵢ :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résidu = erreur résiduelle = signal de correction pour l'arbre suivant
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F_{m−1}(x) :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score additif cumulé jusqu'à l'étape m−1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840480"/>
            <a:ext cx="8412480" cy="54864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886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 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03120" y="388620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rᵢ est grand (ex: yᵢ=1 mais pᵢ=0.1 → rᵢ=0.9), le patient est mal classé → le prochain arbre apprendra à corriger fortement cet exemple.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solidFill>
            <a:srgbClr val="FEF9E7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45720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projet 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28800" y="45720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loss='deviance' est le défaut dans scikit-learn GradientBoostingClassifier. Chaque arbre apprend à réduire cette erreur résiduelle.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 — Mécanismes de Régularisation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560320" cy="8961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 rate η = 0.05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143560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Fₘ = F_{m−1} + η·hₘ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063240" y="109728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Réduit la contribution de chaque arbre. Petit η impose plus d'arbres mais un apprentissage plus doux et stable.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8412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65960"/>
            <a:ext cx="2560320" cy="8961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0116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depth = 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44144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Apprenants faibles (profondeur limitée)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63240" y="210312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arbre capture des interactions simples (3 niveaux max). Limite la complexité par arbre.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8412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71800"/>
            <a:ext cx="2560320" cy="8961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0175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samples leaf = 5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344728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Chaque feuille ≥ 5 exemples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063240" y="310896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Interdit la création de feuilles « pures » basées sur 1-2 exemples → régularisation des feuilles terminales.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977640"/>
            <a:ext cx="8412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977640"/>
            <a:ext cx="2560320" cy="8961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0233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Subsample = 0.9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11480" y="44531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Chaque arbre = 90% du train (aléatoire)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063240" y="411480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Stochasticité similaire au bagging. Réduit la variance. 90% conserve la plupart de l'information.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5029200"/>
            <a:ext cx="8412480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total : η × M = 0.05 × 200 = 10 — compromis modéré. Malgré ces 4 régularisations cumulées, le sur-apprentissage persiste sur ce petit dataset.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 — Hyperparamètres &amp; Risques sur Petit Dataset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286000" cy="62179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 = 200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0" y="10515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d'arbres. Compromis capacité/sur-apprentissage. Plus d'arbres = plus de capacité mais plus de risque de mémorisation.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673352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73352"/>
            <a:ext cx="2286000" cy="62179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73352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learning_rate = 0.05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0" y="176479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Régularisation douce. Force un apprentissage incrémental. Combiné à n_estimators=200, donne un budget total modéré.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386584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386584"/>
            <a:ext cx="2286000" cy="62179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386584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 =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0" y="2478024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Profondeur maximale de chaque arbre. Apprenants faibles intentionnels. Interactions jusqu'au 3ème ordre.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099816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099816"/>
            <a:ext cx="2286000" cy="62179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099816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min_samples_leaf = 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0" y="3191256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 les feuilles basées sur trop peu d'exemples. Régularise les décisions terminales.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813048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813048"/>
            <a:ext cx="2286000" cy="62179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813048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subsample = 0.9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0" y="3904488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d'exemples utilisée pour chaque arbre. Introduit de la stochasticité → réduit la variance.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FDECE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46177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Risque observé 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68880" y="461772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AUC = 1.000 — mémorisation complète. GB sur-apprend malgré 5 mécanismes de régularisation → petit dataset (237 exemples) insuffisant pour ce modèle complexe.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Comparaison Théorique des 3 Modèles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103120" cy="475488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0624" y="96012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Propriété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0" y="960120"/>
            <a:ext cx="2103120" cy="475488"/>
          </a:xfrm>
          <a:prstGeom prst="rect">
            <a:avLst/>
          </a:prstGeom>
          <a:solidFill>
            <a:srgbClr val="2471A3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15184" y="96012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Logistique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2103120" cy="475488"/>
          </a:xfrm>
          <a:prstGeom prst="rect">
            <a:avLst/>
          </a:prstGeom>
          <a:solidFill>
            <a:srgbClr val="1E8449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18304" y="96012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66560" y="960120"/>
            <a:ext cx="2103120" cy="475488"/>
          </a:xfrm>
          <a:prstGeom prst="rect">
            <a:avLst/>
          </a:prstGeom>
          <a:solidFill>
            <a:srgbClr val="E74C3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21424" y="96012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472184"/>
            <a:ext cx="2103120" cy="475488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147218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60320" y="1472184"/>
            <a:ext cx="2103120" cy="475488"/>
          </a:xfrm>
          <a:prstGeom prst="rect">
            <a:avLst/>
          </a:prstGeom>
          <a:solidFill>
            <a:srgbClr val="F4F8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15184" y="147218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Linéaire discriminatif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1472184"/>
            <a:ext cx="2103120" cy="475488"/>
          </a:xfrm>
          <a:prstGeom prst="rect">
            <a:avLst/>
          </a:prstGeom>
          <a:solidFill>
            <a:srgbClr val="F4F8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147218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Probabiliste génératif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766560" y="1472184"/>
            <a:ext cx="2103120" cy="475488"/>
          </a:xfrm>
          <a:prstGeom prst="rect">
            <a:avLst/>
          </a:prstGeom>
          <a:solidFill>
            <a:srgbClr val="F4F8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21424" y="147218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non-linéaire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1984248"/>
            <a:ext cx="2103120" cy="475488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198424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Interprétabilité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560320" y="1984248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15184" y="198424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(coefficients βⱼ)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1984248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18304" y="198424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(μ, σ par classe)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766560" y="1984248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21424" y="198424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 (boîte noire)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2496312"/>
            <a:ext cx="2103120" cy="475488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49631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sur-appr.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560320" y="2496312"/>
            <a:ext cx="2103120" cy="475488"/>
          </a:xfrm>
          <a:prstGeom prst="rect">
            <a:avLst/>
          </a:prstGeom>
          <a:solidFill>
            <a:srgbClr val="F4F8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15184" y="249631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 (reg. L2)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63440" y="2496312"/>
            <a:ext cx="2103120" cy="475488"/>
          </a:xfrm>
          <a:prstGeom prst="rect">
            <a:avLst/>
          </a:prstGeom>
          <a:solidFill>
            <a:srgbClr val="F4F8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18304" y="249631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766560" y="2496312"/>
            <a:ext cx="2103120" cy="475488"/>
          </a:xfrm>
          <a:prstGeom prst="rect">
            <a:avLst/>
          </a:prstGeom>
          <a:solidFill>
            <a:srgbClr val="F4F8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21424" y="249631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 (séquentiel)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" y="3008376"/>
            <a:ext cx="2103120" cy="475488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0624" y="300837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Sensibilité échelle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560320" y="3008376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15184" y="300837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→ StandardScaler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63440" y="3008376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18304" y="300837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→ StandardScaler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766560" y="3008376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21424" y="300837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→ invariant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65760" y="3520440"/>
            <a:ext cx="2103120" cy="475488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0624" y="352044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 clé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560320" y="3520440"/>
            <a:ext cx="2103120" cy="475488"/>
          </a:xfrm>
          <a:prstGeom prst="rect">
            <a:avLst/>
          </a:prstGeom>
          <a:solidFill>
            <a:srgbClr val="F4F8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15184" y="352044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Séparabilité linéaire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663440" y="3520440"/>
            <a:ext cx="2103120" cy="475488"/>
          </a:xfrm>
          <a:prstGeom prst="rect">
            <a:avLst/>
          </a:prstGeom>
          <a:solidFill>
            <a:srgbClr val="F4F8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18304" y="352044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Indépendance features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766560" y="3520440"/>
            <a:ext cx="2103120" cy="475488"/>
          </a:xfrm>
          <a:prstGeom prst="rect">
            <a:avLst/>
          </a:prstGeom>
          <a:solidFill>
            <a:srgbClr val="F4F8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21424" y="352044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hypothèse forte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65760" y="4032504"/>
            <a:ext cx="2103120" cy="475488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0624" y="403250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Complexité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560320" y="4032504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615184" y="403250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O(n·p)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663440" y="4032504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18304" y="403250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O(n·p)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766560" y="4032504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21424" y="403250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O(M·n·p·log n)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365760" y="4544568"/>
            <a:ext cx="2103120" cy="475488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20624" y="454456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hyperparamètres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2560320" y="4544568"/>
            <a:ext cx="2103120" cy="475488"/>
          </a:xfrm>
          <a:prstGeom prst="rect">
            <a:avLst/>
          </a:prstGeom>
          <a:solidFill>
            <a:srgbClr val="F4F8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615184" y="454456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(C, solver)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663440" y="4544568"/>
            <a:ext cx="2103120" cy="475488"/>
          </a:xfrm>
          <a:prstGeom prst="rect">
            <a:avLst/>
          </a:prstGeom>
          <a:solidFill>
            <a:srgbClr val="F4F8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18304" y="454456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(var_smoothing)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6766560" y="4544568"/>
            <a:ext cx="2103120" cy="475488"/>
          </a:xfrm>
          <a:prstGeom prst="rect">
            <a:avLst/>
          </a:prstGeom>
          <a:solidFill>
            <a:srgbClr val="F4F8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821424" y="454456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Nombreux (5+)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0D1B2A">
              <a:alpha val="40000"/>
            </a:srgbClr>
          </a:solidFill>
          <a:ln w="12700">
            <a:solidFill>
              <a:srgbClr val="0D1B2A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6400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50292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Fondations : Arbres de Décision, Boosting &amp; XGBoost</a:t>
            </a:r>
            <a:endParaRPr lang="en-US" sz="3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Comparaison Approfondie : ID3 — C4.5 — CART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868680" cy="1261872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686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298448" y="941832"/>
            <a:ext cx="649224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8448" y="941832"/>
            <a:ext cx="64922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H(Y) = −Σ pₖ log₂(pₖ)   →   IG(Y,X) = H(Y) − Σᵥ (|Dᵥ|/|D|)·H(Y|X=v)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98448" y="1389888"/>
            <a:ext cx="6492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Entropie de Shannon + Gain d'Information. Choisit l'attribut maximisant IG.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98448" y="1764792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: Biais vers attributs à nombreuses valeurs. Pas de support valeurs continues. Arbres multi-branches.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286000"/>
            <a:ext cx="8412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286000"/>
            <a:ext cx="868680" cy="12618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286000"/>
            <a:ext cx="8686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C4.5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298448" y="2313432"/>
            <a:ext cx="649224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98448" y="2313432"/>
            <a:ext cx="64922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GR(Y,X) = IG(Y,X) / SplitInfo(X)   où   SplitInfo = −Σᵥ (|Dᵥ|/|D|)·log₂(|Dᵥ|/|D|)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298448" y="2761488"/>
            <a:ext cx="6492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Ratio corrige le biais ID3. Supporte valeurs continues (seuils). Gère les valeurs manquantes.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98448" y="3136392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: Plus lent. Heuristiques complexes. Arbres multi-branches encore.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657600"/>
            <a:ext cx="8412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657600"/>
            <a:ext cx="868680" cy="12618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657600"/>
            <a:ext cx="8686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298448" y="3685032"/>
            <a:ext cx="649224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98448" y="3685032"/>
            <a:ext cx="64922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Gini(t) = 1 − Σₖ p(k|t)²   →   ΔI(s,t) = I(t) − (Nₗ/Nₜ)·I(tₗ) − (Nᵣ/Nₜ)·I(tᵣ)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298448" y="4133088"/>
            <a:ext cx="6492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BINAIRE uniquement. Impureté de Gini. Split optimal par maximisation de ΔI(s,t). BASE de scikit-learn.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98448" y="4507992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: Toujours binaire. Sensible aux features dominantes (sans normalisation).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502920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projet : scikit-learn utilise CART (Gini, splits binaires) pour les arbres faibles du Gradient Boosting.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Équation de Split d'un Arbre — Réduction d'Impureté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ΔI(s,t)  =  I(t)  −  (Nₗ/Nₜ)·I(tₗ)  −  (Nᵣ/Nₜ)·I(tᵣ)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8412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45920"/>
            <a:ext cx="1371600" cy="41148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459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I(t)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1700784"/>
            <a:ext cx="6858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Impureté du nœud parent (ex: Gini ou Entropie)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121408"/>
            <a:ext cx="8412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121408"/>
            <a:ext cx="1371600" cy="41148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12140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I(tₗ), I(tᵣ)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2176272"/>
            <a:ext cx="6858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Impuretés des sous-arbres gauche et droit après le split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596896"/>
            <a:ext cx="8412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596896"/>
            <a:ext cx="1371600" cy="41148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596896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Nₗ, Nᵣ, Nₜ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0" y="2651760"/>
            <a:ext cx="6858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d'exemples dans fils gauche, fils droit, et nœud parent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072384"/>
            <a:ext cx="8412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072384"/>
            <a:ext cx="1371600" cy="41148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072384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28800" y="3127248"/>
            <a:ext cx="6858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candidate : choix de la feature et du seuil testés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3657600"/>
            <a:ext cx="841248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657600"/>
            <a:ext cx="8412480" cy="5486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Prédiction feuille :  p̂_leaf = n_pos / (n_pos + n_neg)   →   ŷ = 𝟙(p̂_leaf ≥ t)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343400"/>
            <a:ext cx="8412480" cy="59436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43891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clinique 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11680" y="438912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variables thal, cp, ca dominent nos résultats car elles maximisent ΔI(s,t) à chaque nœud → elles contiennent le plus d'information discriminante sur la maladie cardiaque.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Principe du Boosting Séquentiel — Modèle Additif par Étapes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05840"/>
            <a:ext cx="83210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832104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Fₘ(x)  =  F₀(x)  +  Σₘ₌₁ᴹ  η · hₘ(x)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41148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7830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Boosting Séquentiel (GB)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194560"/>
            <a:ext cx="384048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Apprenants DÉPENDANTS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hₘ corrige les erreurs de hₘ₋₁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Optimise la perte par gradient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Séquentiel → NON parallélisable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Réduit biais ET variance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Sensible aux anomalies (outliers)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projet :
</a:t>
            </a:r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n_estimators=200, learning_rate=0.05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apprentissage progressif mais mémorisation avec peu de données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737360"/>
            <a:ext cx="41148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7830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Différence vs Bagging (RF)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2194560"/>
            <a:ext cx="384048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Apprenants INDÉPENDANTS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Entraînés en parallèle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Chaque arbre sur Bootstrap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Agrégation par vote/moyenne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Réduit principalement la variance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Robuste aux outliers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:
</a:t>
            </a:r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n'est pas implémenté dans ce notebook — cité comme perspective.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Descente de Gradient en Espace Fonctionnel &amp; Shrinkage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418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ED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Optimisation en espace fonctionnel 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83210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98448"/>
            <a:ext cx="832104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F̂  =  argmin_F Σᵢ L(yᵢ, F(xᵢ))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8412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9476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ED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Direction de descente à l'étape m (pseudo-résidus) 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258568"/>
            <a:ext cx="83210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58568"/>
            <a:ext cx="832104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r_{im}  =  −∂L(yᵢ, F(xᵢ)) / ∂F(xᵢ)  |_{F = F_{m−1}}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8412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9535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ED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Mise à jour avec pas optimal (shrinkage) 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3264408"/>
            <a:ext cx="83210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264408"/>
            <a:ext cx="832104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Fₘ(x)  =  F_{m−1}(x)  +  η·ρₘ·hₘ(x)    où    ρₘ = argmin_ρ Σᵢ L(yᵢ, F_{m−1}(xᵢ) + ρ·hₘ(xᵢ))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η 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88720" y="3931920"/>
            <a:ext cx="7498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(0.05) — shrinkage. Réduit la contribution de chaque arbre.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279392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ρₘ 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4279392"/>
            <a:ext cx="7498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optimal par line search — minimise la perte à l'étape m.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626864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hₘ(x) 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88720" y="4626864"/>
            <a:ext cx="7498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faible ajusté sur les pseudo-résidus de l'étape m.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9834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projet : η=0.05 impose un apprentissage progressif (shrinkage fort). Avec M=200 arbres, la complexité effective est limitée mais non nulle.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Comparaison Gradient Boosting vs Random Forest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4114800" cy="4572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402336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17320"/>
            <a:ext cx="402336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p̂_GB(x)  =  σ(F₀ + Σₘ η·hₘ(x))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993392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Séquentiel :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hₘ dépend de hₘ₋₁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réduire biais via corrections successives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Parallélisation :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impossible (dépendance temporelle)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: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réduite via subsample + shrinkage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: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sur-apprentissage si hyperparamètres mal réglés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: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excellentes performances avec bon tuning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914400"/>
            <a:ext cx="4114800" cy="4572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914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(Bagging)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1417320"/>
            <a:ext cx="402336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417320"/>
            <a:ext cx="402336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p̂_RF(x)  =  (1/B) Σ_b hb(x)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1993392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Parallèle :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arbres indépendants sur bootstraps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réduire variance par agrégation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Parallélisation :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totale (n_jobs=-1)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Biais :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légèrement plus élevé que GB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: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plus robuste, moins de sur-apprentissage
</a:t>
            </a:r>
            <a:pPr indent="0" marL="0">
              <a:spcAft>
                <a:spcPts val="400"/>
              </a:spcAft>
              <a:buNone/>
            </a:pPr>
            <a:r>
              <a:rPr lang="en-US" sz="1100" b="1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:</a:t>
            </a:r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Non implémenté ici — perspective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sur-apprentissage de GB (CV gap=0.138, train AUC=1.000) est cohérent avec la dynamique séquentielle de correction des erreurs sur un petit dataset.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— Extension Régularisée du Gradient Boosting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418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ED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 objectif régularisée (étape t) 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83210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98448"/>
            <a:ext cx="832104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Obj(t) = Σᵢ l(yᵢ, ŷᵢ(t−1) + fₜ(xᵢ)) + Ω(fₜ)   où   Ω(f) = γT + (λ/2)Σⱼ wⱼ²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8412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9476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ED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Approximation de second ordre (développement de Taylor) 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258568"/>
            <a:ext cx="83210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58568"/>
            <a:ext cx="832104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Obj̃(t) ≈ Σᵢ [ gᵢ·fₜ(xᵢ) + (1/2)·hᵢ·fₜ(xᵢ)² ] + Ω(fₜ)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971800"/>
            <a:ext cx="640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" y="2971800"/>
            <a:ext cx="7589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feuilles dans l'arbre fₜ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319272"/>
            <a:ext cx="640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wⱼ 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43000" y="3319272"/>
            <a:ext cx="7589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(score) de la feuille j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666744"/>
            <a:ext cx="640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 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3666744"/>
            <a:ext cx="7589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Pénalité sur le nombre de feuilles → limite la complexité structurelle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014216"/>
            <a:ext cx="640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" y="4014216"/>
            <a:ext cx="7589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Pénalité L2 sur les poids des feuilles → analogue à C dans LogReg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361688"/>
            <a:ext cx="640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gᵢ, hᵢ 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" y="4361688"/>
            <a:ext cx="7589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 1er et 2ème ordre de la perte → optimisation plus précise que GB classique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solidFill>
            <a:srgbClr val="FDECE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480974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Statut dans ce projet 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17520" y="4809744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est présenté ici comme extension théorique. Il n'est PAS implémenté dans main.ipynb — perspective pour travaux futurs.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Hypothèses d'Application &amp; Risques Pratiques du Gradient Boosting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418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ED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Complexité effective totale 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832104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98448"/>
            <a:ext cx="832104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complexité effective  ∝  η × M  =  0.05 × 200  =  10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64208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64208"/>
            <a:ext cx="109728" cy="7132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700784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Sensibilité aux valeurs aberrantes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2029968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résidus très grands peuvent orienter excessivement les premiers arbres — les exemples difficiles reçoivent une pondération excessive dans les itérations suivantes.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487168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487168"/>
            <a:ext cx="109728" cy="7132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523744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Sur-apprentissage sur petit dataset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2852928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avec régularisation, GB peut mémoriser. Observé ici : Train AUC = 1.000, CV gap = 0.138. Le modèle trop puissant pour 237 exemples.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310128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310128"/>
            <a:ext cx="109728" cy="7132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346704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Interdépendance η × M critique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3675888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learning rate trop grand (η→1) avec M élevé = sur-apprentissage garanti. Un η trop petit (η→0) avec M insuffisant = sous-apprentissage.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133088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133088"/>
            <a:ext cx="109728" cy="7132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4169664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Absence de validation précoce (early stopping)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4498848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early stopping, on utilise tous les M arbres même si la validation s'est dégradée. Non implémenté ici — aurait pu limiter le sur-apprentissage.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Métriques de Convergence : train_score_ &amp; staged_predict()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4114800" cy="38404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train_score_[m]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353312"/>
            <a:ext cx="402336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53312"/>
            <a:ext cx="402336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train_score[m] = (1/n)·Σᵢ L(yᵢ, Fₘ(xᵢ))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Déviance d'entraînement à chaque étape m. Permet de visualiser la courbe de convergence sur le train. Si elle descend toujours → pas encore convergé.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0175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ici 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54480" y="30175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exploité explicitement dans main.ipynb → extension méthodologique.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914400"/>
            <a:ext cx="41148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914400"/>
            <a:ext cx="4114800" cy="38404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91440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staged_predict_proba()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1353312"/>
            <a:ext cx="402336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353312"/>
            <a:ext cx="402336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AUCₘ = AUC(y, staged_predict_m(x))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192024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 les métriques de validation à chaque étape m. Permet de trouver M* optimal (nombre d'arbres qui maximise la validation).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30175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ici 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52160" y="30175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staged_predict() non exploité dans la version actuelle — à ajouter comme diagnostic.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160520"/>
            <a:ext cx="8412480" cy="77724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4206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Intérêt pratique 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86000" y="42062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outils permettent de visualiser la convergence pas-à-pas, détecter le point où la validation se dégrade (early stopping visuel), et choisir M* optimal — prolongent les diagnostics actuels (CV gap + learning curves).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0D1B2A">
              <a:alpha val="40000"/>
            </a:srgbClr>
          </a:solidFill>
          <a:ln w="12700">
            <a:solidFill>
              <a:srgbClr val="0D1B2A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6400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50292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Protocole Expérimental &amp; Métriques</a:t>
            </a:r>
            <a:endParaRPr lang="en-US" sz="3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Métriques — La Matrice de Confusion : Base de Tout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0" y="548640"/>
            <a:ext cx="22860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0" y="54864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Prédit POSITIF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0" y="548640"/>
            <a:ext cx="22860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0" y="54864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Prédit NÉGATIF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1005840"/>
            <a:ext cx="2286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10058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 POSITIF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0" y="1920240"/>
            <a:ext cx="2286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19202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 NÉGATIF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005840"/>
            <a:ext cx="2286000" cy="9144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0058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(Vrai Positif)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0" y="1005840"/>
            <a:ext cx="2286000" cy="9144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10058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(Faux Négatif)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1920240"/>
            <a:ext cx="2286000" cy="9144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9202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(Faux Positif)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0" y="1920240"/>
            <a:ext cx="2286000" cy="9144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19202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(Vrai Négatif)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3017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 + FN + FP + VN = n (total exemples test = 60)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429000"/>
            <a:ext cx="8412480" cy="150876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3474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Interprétation clinique 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3840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(Vrai Positif) 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51760" y="38404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malade détecté comme malade → bonne détection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00600" y="3840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(Faux Négatif) 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49440" y="38404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malade classé sain → RISQUE VITAL — à minimiser en priorité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43434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(Faux Positif) 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651760" y="43434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sain classé malade → examens supplémentaires, coût modéré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00600" y="43434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 (Vrai Négatif) 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49440" y="43434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sain classé sain → bonne spécificité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Métriques — Accuracy, Précision &amp; Recall (Sensibilité)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109728" cy="12618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5097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(Exactitude)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03520" y="950976"/>
            <a:ext cx="333756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0" y="950976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 = (VP + VN) / (VP + VN + FP + FN)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38988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VP + VN : prédictions correctes (vrais positifs + vrais négatifs)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161848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 : nombre total d'exemples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184708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Valeur : entre 0 et 1 — 1 = parfait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19202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Limitée si classes déséquilibrées. Ici 54/46 → interprétable mais insuffisante seule.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304288"/>
            <a:ext cx="8412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304288"/>
            <a:ext cx="109728" cy="12618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34086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Précision (Valeur Prédictive Positive)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03520" y="2340864"/>
            <a:ext cx="333756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2340864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Precision = VP / (VP + FP)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277977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VP : vrais positifs — patients malades correctement détectés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300837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FP : faux positifs — patients sains classés malades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" y="323697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Interprétation : parmi les prédictions positives, combien sont correctes ?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4360" y="331012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les fausses alertes. Haute précision = peu de FP. Peut être sacrifiée en dépistage.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694176"/>
            <a:ext cx="8412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694176"/>
            <a:ext cx="109728" cy="12618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73075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 (Sensibilité / Taux de Vrais Positifs)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303520" y="3730752"/>
            <a:ext cx="333756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0" y="3730752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Recall = VP / (VP + FN)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" y="4169664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VP : patients malades détectés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94360" y="4398264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FN : patients malades MANQUÉS → risque vital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4360" y="4626864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Interprétation : parmi les vrais malades, combien sont détectés ?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94360" y="470001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 PRIORITAIRE en dépistage cardiaque. Minimiser FN = maximiser le Recall.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Métriques — F1-Score &amp; Spécificité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4114800" cy="41148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F1-Score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389888"/>
            <a:ext cx="402336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89888"/>
            <a:ext cx="4023360" cy="53035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F₁ = 2 · (Precision · Recall) / (Precision + Recall)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993392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harmonique :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favorise les valeurs basses
</a:t>
            </a:r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Precision ≫ Recall :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F1 pénalise
</a:t>
            </a:r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Precision ≈ Recall :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F1 ≈ moyenne arithmétique
</a:t>
            </a:r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0 → 1 :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 = compromis parfait Précision-Recall
</a:t>
            </a:r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: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quand il faut équilibrer faux positifs et faux négatifs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114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914400"/>
            <a:ext cx="41148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9144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Spécificité (TNR)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1389888"/>
            <a:ext cx="402336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389888"/>
            <a:ext cx="4023360" cy="53035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Spécificité = VN / (VN + FP)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1993392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Parmi les vrais négatifs :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combien identifiés correctement ?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Spécificité haute :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peu de patients sains classés malades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projet :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: 0.906 — LogReg : 0.875 — GB : 0.844
</a:t>
            </a:r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(sur le jeu de test)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 :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FP = patient sain orienté vers examens → coût modéré (FN bien plus critique ici)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343400"/>
            <a:ext cx="841248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4389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clinique 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438912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= patient malade non détecté → risque vital → PRIORITÉ RECALL.  FP = patient sain envoyé en examens → coût modéré. En dépistage : tolérer FP pour minimiser FN.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Métriques — ROC-AUC : Définition Mathématique &amp; Interprétation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418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ED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Courbe ROC : TPR vs FPR pour chaque seuil t ∈ [0, 1]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832104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98448"/>
            <a:ext cx="832104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TPR(t) = P(p̂ ≥ t | y=1)     FPR(t) = P(p̂ ≥ t | y=0)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8412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9476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ED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Aire sous la courbe (AUC) 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267712"/>
            <a:ext cx="832104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67712"/>
            <a:ext cx="832104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 = ∫₀¹ TPR(FPR⁻¹(x)) dx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697480"/>
            <a:ext cx="8412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7249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ED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Interprétation probabiliste 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3044952"/>
            <a:ext cx="832104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044952"/>
            <a:ext cx="832104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 = P(p̂_positif &gt; p̂_négatif)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593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0.5 :</a:t>
            </a:r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classifieur aléatoire (baseline Dummy)   </a:t>
            </a:r>
            <a:pPr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1.0 :</a:t>
            </a:r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classifieur parfait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02336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40690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Dummy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44348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D6D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514600" y="402336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514600" y="40690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14600" y="44348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0.905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663440" y="402336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63440" y="40690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63440" y="44348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71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0.938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812280" y="4023360"/>
            <a:ext cx="2011680" cy="91440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12280" y="40690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Rég. Logistique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12280" y="44348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0.950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65760" y="4992624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 clé : l'AUC est indépendante du seuil de décision → mesure la qualité du classement pur, non de la décision.</a:t>
            </a:r>
            <a:endParaRPr lang="en-US" sz="10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Protocole — Validation Croisée Stratifiée (StratifiedKFold, K=5)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CV moyen :  S̄ = (1/K) Σₖ₌₁ᴷ Sₖ     où  Sₖ = score (ROC-AUC) sur le fold 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6276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Visualisation du 5-fold stratifié sur 237 exemples train 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188720" y="2011680"/>
            <a:ext cx="1371600" cy="43891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01168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51760" y="2011680"/>
            <a:ext cx="13716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01168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0" y="2011680"/>
            <a:ext cx="13716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201168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77840" y="2011680"/>
            <a:ext cx="13716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201168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40880" y="2011680"/>
            <a:ext cx="13716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201168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2523744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188720" y="2523744"/>
            <a:ext cx="13716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2523744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51760" y="2523744"/>
            <a:ext cx="1371600" cy="43891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523744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523744"/>
            <a:ext cx="13716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0" y="2523744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523744"/>
            <a:ext cx="13716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2523744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040880" y="2523744"/>
            <a:ext cx="13716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0" y="2523744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3035808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188720" y="3035808"/>
            <a:ext cx="13716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88720" y="303580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651760" y="3035808"/>
            <a:ext cx="13716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51760" y="303580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114800" y="3035808"/>
            <a:ext cx="1371600" cy="43891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0" y="303580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577840" y="3035808"/>
            <a:ext cx="13716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77840" y="303580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040880" y="3035808"/>
            <a:ext cx="13716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40880" y="303580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3547872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4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188720" y="3547872"/>
            <a:ext cx="13716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88720" y="354787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651760" y="3547872"/>
            <a:ext cx="13716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51760" y="354787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14800" y="3547872"/>
            <a:ext cx="13716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0" y="354787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577840" y="3547872"/>
            <a:ext cx="1371600" cy="43891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77840" y="354787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040880" y="3547872"/>
            <a:ext cx="13716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40880" y="354787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65760" y="4059936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5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188720" y="4059936"/>
            <a:ext cx="13716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88720" y="405993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651760" y="4059936"/>
            <a:ext cx="13716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651760" y="405993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114800" y="4059936"/>
            <a:ext cx="13716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14800" y="405993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577840" y="4059936"/>
            <a:ext cx="13716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77840" y="405993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040880" y="4059936"/>
            <a:ext cx="1371600" cy="43891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040880" y="405993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502920" y="46177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stratifié ?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2468880" y="46177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237 exemples train, un fold non stratifié pourrait avoir une répartition déséquilibrée → estimations instables. La stratification préserve 54%/46% dans chaque fold.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Gap — Diagnostic du Sur-apprentissage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418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ED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Définition du CV Gap 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832104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98448"/>
            <a:ext cx="832104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CV_gap  =  S̄_train  −  S̄_test     où  S̄ = ROC-AUC moyen sur les K folds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65960"/>
            <a:ext cx="109728" cy="53035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57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CV_gap ≈ 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20574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compromis biais-variance → le modèle généralise bien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560320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560320"/>
            <a:ext cx="109728" cy="5303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51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CV_gap ≫ 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26080" y="26517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Sur-apprentissage → le modèle mémorise les données d'entraînement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154680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154680"/>
            <a:ext cx="109728" cy="530352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46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CV_gap &lt; 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6080" y="32461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— possible avec forte régularisation ou fort bruit dans les données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5760" y="382219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du projet :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420624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" y="4251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5902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0.031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2514600" y="420624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514600" y="4251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Rég. Logistique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14600" y="45902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0.047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663440" y="420624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63440" y="4251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63440" y="45902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0.138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812280" y="420624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812280" y="4251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Dummy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12280" y="45902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D6D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Métriques — Brier Score : Calibration des Probabilités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418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ED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Formule du Brier Score 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832104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98448"/>
            <a:ext cx="832104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Brier  =  (1/n) Σᵢ (p̂ᵢ − yᵢ)²     Brier ∈ [0, 1]  —  0 = calibration parfaite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0195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p̂ᵢ :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probabilité prédite par le modèle pour l'exemple i
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yᵢ :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étiquette réelle (0 ou 1)
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quadratique :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 modèle qui prédit p̂=0.9 pour un patient malade (y=1) contribue (0.9−1)²=0.01. Un modèle qui prédit 0.1 contribue 0.81.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834640"/>
            <a:ext cx="8412480" cy="54864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880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 clinique 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0" y="288036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 modèle prédit p̂=0.70 pour un groupe de patients, environ 70% devraient réellement être positifs. Le Brier mesure cet écart.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5661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36118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Rég. Logistique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04164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0.094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65760" y="460857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— bien calibré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35661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0" y="36118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404164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471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0.098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200400" y="460857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Proche de LogReg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35661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35040" y="36118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35040" y="404164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0.128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035040" y="460857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bien calibré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0D1B2A">
              <a:alpha val="40000"/>
            </a:srgbClr>
          </a:solidFill>
          <a:ln w="12700">
            <a:solidFill>
              <a:srgbClr val="0D1B2A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6400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50292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— Validation Croisée (5-Fold)</a:t>
            </a:r>
            <a:endParaRPr lang="en-US" sz="3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Complets — Validation Croisée 5-Fold (ROC-AUC)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10312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960120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14600" y="960120"/>
            <a:ext cx="137160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51176" y="96012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Accuracy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931920" y="960120"/>
            <a:ext cx="128016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68496" y="960120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Recall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257800" y="960120"/>
            <a:ext cx="109728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94376" y="960120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F1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0" y="960120"/>
            <a:ext cx="137160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96012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ROC-AUC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818120" y="960120"/>
            <a:ext cx="118872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54696" y="960120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Gap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1481328"/>
            <a:ext cx="2103120" cy="594360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1481328"/>
            <a:ext cx="2029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14600" y="1481328"/>
            <a:ext cx="1371600" cy="594360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51176" y="1481328"/>
            <a:ext cx="1298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0.827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931920" y="1481328"/>
            <a:ext cx="1280160" cy="594360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68496" y="1481328"/>
            <a:ext cx="1207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0.808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57800" y="1481328"/>
            <a:ext cx="1097280" cy="594360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94376" y="1481328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0.803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1481328"/>
            <a:ext cx="1371600" cy="594360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37376" y="1481328"/>
            <a:ext cx="1298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0.870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818120" y="1481328"/>
            <a:ext cx="1188720" cy="594360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54696" y="1481328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0.031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2139696"/>
            <a:ext cx="2103120" cy="594360"/>
          </a:xfrm>
          <a:prstGeom prst="rect">
            <a:avLst/>
          </a:prstGeom>
          <a:solidFill>
            <a:srgbClr val="F4F8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" y="2139696"/>
            <a:ext cx="2029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Rég. Logistique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14600" y="2139696"/>
            <a:ext cx="1371600" cy="594360"/>
          </a:xfrm>
          <a:prstGeom prst="rect">
            <a:avLst/>
          </a:prstGeom>
          <a:solidFill>
            <a:srgbClr val="F4F8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51176" y="2139696"/>
            <a:ext cx="1298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0.823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931920" y="2139696"/>
            <a:ext cx="1280160" cy="594360"/>
          </a:xfrm>
          <a:prstGeom prst="rect">
            <a:avLst/>
          </a:prstGeom>
          <a:solidFill>
            <a:srgbClr val="F4F8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68496" y="2139696"/>
            <a:ext cx="1207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0.790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257800" y="2139696"/>
            <a:ext cx="1097280" cy="594360"/>
          </a:xfrm>
          <a:prstGeom prst="rect">
            <a:avLst/>
          </a:prstGeom>
          <a:solidFill>
            <a:srgbClr val="F4F8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94376" y="2139696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0.793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0" y="2139696"/>
            <a:ext cx="1371600" cy="594360"/>
          </a:xfrm>
          <a:prstGeom prst="rect">
            <a:avLst/>
          </a:prstGeom>
          <a:solidFill>
            <a:srgbClr val="F4F8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37376" y="2139696"/>
            <a:ext cx="1298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0.869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818120" y="2139696"/>
            <a:ext cx="1188720" cy="594360"/>
          </a:xfrm>
          <a:prstGeom prst="rect">
            <a:avLst/>
          </a:prstGeom>
          <a:solidFill>
            <a:srgbClr val="F4F8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54696" y="2139696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0.047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2798064"/>
            <a:ext cx="2103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2336" y="2798064"/>
            <a:ext cx="2029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514600" y="2798064"/>
            <a:ext cx="1371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51176" y="2798064"/>
            <a:ext cx="1298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0.869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931920" y="2798064"/>
            <a:ext cx="12801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68496" y="2798064"/>
            <a:ext cx="1207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0.826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257800" y="2798064"/>
            <a:ext cx="10972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94376" y="2798064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0.846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400800" y="2798064"/>
            <a:ext cx="1371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37376" y="2798064"/>
            <a:ext cx="1298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0.862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818120" y="2798064"/>
            <a:ext cx="11887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54696" y="2798064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0.138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365760" y="3456432"/>
            <a:ext cx="2103120" cy="594360"/>
          </a:xfrm>
          <a:prstGeom prst="rect">
            <a:avLst/>
          </a:prstGeom>
          <a:solidFill>
            <a:srgbClr val="F4F8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02336" y="3456432"/>
            <a:ext cx="2029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Dummy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514600" y="3456432"/>
            <a:ext cx="1371600" cy="594360"/>
          </a:xfrm>
          <a:prstGeom prst="rect">
            <a:avLst/>
          </a:prstGeom>
          <a:solidFill>
            <a:srgbClr val="F4F8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51176" y="3456432"/>
            <a:ext cx="1298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0.541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931920" y="3456432"/>
            <a:ext cx="1280160" cy="594360"/>
          </a:xfrm>
          <a:prstGeom prst="rect">
            <a:avLst/>
          </a:prstGeom>
          <a:solidFill>
            <a:srgbClr val="F4F8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968496" y="3456432"/>
            <a:ext cx="1207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0.000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257800" y="3456432"/>
            <a:ext cx="1097280" cy="594360"/>
          </a:xfrm>
          <a:prstGeom prst="rect">
            <a:avLst/>
          </a:prstGeom>
          <a:solidFill>
            <a:srgbClr val="F4F8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94376" y="3456432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0.000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400800" y="3456432"/>
            <a:ext cx="1371600" cy="594360"/>
          </a:xfrm>
          <a:prstGeom prst="rect">
            <a:avLst/>
          </a:prstGeom>
          <a:solidFill>
            <a:srgbClr val="F4F8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37376" y="3456432"/>
            <a:ext cx="1298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0.500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818120" y="3456432"/>
            <a:ext cx="1188720" cy="594360"/>
          </a:xfrm>
          <a:prstGeom prst="rect">
            <a:avLst/>
          </a:prstGeom>
          <a:solidFill>
            <a:srgbClr val="F4F8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54696" y="3456432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0.000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365760" y="4224528"/>
            <a:ext cx="8412480" cy="68580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502920" y="42793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clés :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2468880" y="4279392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modèles surpassent la baseline. NB ≈ LogReg &gt; GB en AUC. Paradoxe : GB a la meilleure Accuracy (0.869) mais le pire CV gap (0.138) → l'Accuracy seule est trompeuse.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— Naive Bayes : Meilleur Compromis Biais-Variance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ROC-AUC : 0.870 (meilleur)  |  CV gap : 0.031 (le plus faible)  |  Train AUC moyen : ~0.901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1554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2140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0.827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057400" y="1691640"/>
            <a:ext cx="1554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5740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57400" y="212140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0.808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749040" y="1691640"/>
            <a:ext cx="1554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4904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49040" y="212140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0.803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440680" y="1691640"/>
            <a:ext cx="1554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4068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40680" y="212140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0.870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132320" y="1691640"/>
            <a:ext cx="1554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3232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Gap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0" y="212140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0.031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65760" y="3154680"/>
            <a:ext cx="8412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CV gap (0.031) :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modèle ne mémorise pas — bonne généralisation
</a:t>
            </a:r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 d'indépendance violée :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features cliniques sont corrélées (thal/cp/ca). Pourtant NB reste compétitif.
</a:t>
            </a:r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classification binaire avec peu de features, la violation de l'indépendance n'empêche pas un bon classement relatif des probabilités.
</a:t>
            </a:r>
            <a:pPr indent="0" marL="0">
              <a:spcAft>
                <a:spcPts val="500"/>
              </a:spcAft>
              <a:buNone/>
            </a:pPr>
            <a:r>
              <a:rPr lang="en-US" sz="1150" b="1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implémenté :</a:t>
            </a:r>
            <a:pPr indent="0" marL="0">
              <a:spcAft>
                <a:spcPts val="500"/>
              </a:spcAft>
              <a:buNone/>
            </a:pPr>
            <a:r>
              <a:rPr lang="en-US" sz="11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tuning de var_smoothing.</a:t>
            </a:r>
            <a:endParaRPr lang="en-US" sz="11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— Régression Logistique : Très Proche de Naive Bayes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ROC-AUC : 0.869  |  CV gap : 0.047  |  Train AUC moyen : ~0.916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1554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2140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0.823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057400" y="1691640"/>
            <a:ext cx="1554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5740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57400" y="212140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0.790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749040" y="1691640"/>
            <a:ext cx="1554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4904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49040" y="212140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0.793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440680" y="1691640"/>
            <a:ext cx="1554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4068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40680" y="212140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0.869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132320" y="1691640"/>
            <a:ext cx="1554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3232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Gap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0" y="212140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0.047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65760" y="3154680"/>
            <a:ext cx="8412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gap : 0.047 :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compromis correct — légère sur-estimation sur le train mais raisonnable.
</a:t>
            </a:r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Régularisation L2 (C=1.0) :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contient le sur-apprentissage — les coefficients βⱼ ne divergent pas.
</a:t>
            </a:r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AUC ~0.916 :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modèle apprend sans mémoriser — profil sain.
</a:t>
            </a:r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 distinctif :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coefficients βⱼ directement interprétables → utilisables pour expliquer la décision au clinicien.
</a:t>
            </a:r>
            <a:pPr indent="0" marL="0">
              <a:spcAft>
                <a:spcPts val="500"/>
              </a:spcAft>
              <a:buNone/>
            </a:pPr>
            <a:r>
              <a:rPr lang="en-US" sz="1150" b="1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implémenté :</a:t>
            </a:r>
            <a:pPr indent="0" marL="0">
              <a:spcAft>
                <a:spcPts val="500"/>
              </a:spcAft>
              <a:buNone/>
            </a:pPr>
            <a:r>
              <a:rPr lang="en-US" sz="11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GridSearchCV sur C.</a:t>
            </a:r>
            <a:endParaRPr lang="en-US" sz="11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— Gradient Boosting : Sur-apprentissage Confirmé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ROC-AUC : 0.862  |  CV gap : 0.138 ← signal fort  |  Train AUC = 1.000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1554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2140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0.869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057400" y="1691640"/>
            <a:ext cx="1554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5740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57400" y="212140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0.826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749040" y="1691640"/>
            <a:ext cx="1554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4904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49040" y="212140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0.846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440680" y="1691640"/>
            <a:ext cx="1554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4068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40680" y="212140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0.862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132320" y="1691640"/>
            <a:ext cx="1554480" cy="1280160"/>
          </a:xfrm>
          <a:prstGeom prst="rect">
            <a:avLst/>
          </a:prstGeom>
          <a:solidFill>
            <a:srgbClr val="FDECE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3232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Gap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0" y="212140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0.138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65760" y="3154680"/>
            <a:ext cx="8412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AUC = 1.000 :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mémorisation COMPLÈTE des données d'entraînement.
</a:t>
            </a:r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gap = 0.138 :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plus élevé des 3 modèles → sur-apprentissage structurel.
</a:t>
            </a:r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probable :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237 exemples train insuffisants pour GB avec 200 arbres.
</a:t>
            </a:r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Paradoxe Accuracy :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GB a la meilleure Accuracy CV (0.869) mais le pire AUC et le plus fort sur-apprentissage → l'Accuracy seule est trompeuse.
</a:t>
            </a:r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Régularisations tentées :</a:t>
            </a:r>
            <a:pPr indent="0" marL="0">
              <a:spcAft>
                <a:spcPts val="500"/>
              </a:spcAft>
              <a:buNone/>
            </a:pPr>
            <a:r>
              <a:rPr lang="en-US" sz="11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max_depth=3, min_samples_leaf=5, subsample=0.9 — insuffisantes.</a:t>
            </a:r>
            <a:endParaRPr lang="en-US" sz="11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Synthèse — Validation Croisée : Classements &amp; Paradoxes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01168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Robustesse (CV gap)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14600" y="1069848"/>
            <a:ext cx="320040" cy="3200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10698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98648" y="109728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0.031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1069848"/>
            <a:ext cx="320040" cy="3200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0698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01768" y="109728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Rég. Logistique 0.047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20840" y="1069848"/>
            <a:ext cx="320040" cy="3200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10698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04888" y="109728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0.138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19456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194560"/>
            <a:ext cx="201168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19456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Discrimination (ROC-AUC)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14600" y="2304288"/>
            <a:ext cx="320040" cy="3200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14600" y="23042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98648" y="233172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0.870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2304288"/>
            <a:ext cx="320040" cy="3200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23042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01768" y="233172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Rég. Logistique 0.869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20840" y="2304288"/>
            <a:ext cx="320040" cy="3200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23042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04888" y="233172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0.862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42900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429000"/>
            <a:ext cx="201168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42900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CV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514600" y="3538728"/>
            <a:ext cx="320040" cy="3200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14600" y="35387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898648" y="356616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0.869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17720" y="3538728"/>
            <a:ext cx="320040" cy="32004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17720" y="35387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01768" y="356616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0.827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720840" y="3538728"/>
            <a:ext cx="320040" cy="32004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20840" y="35387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104888" y="356616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Rég. Logistique 0.823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solidFill>
            <a:srgbClr val="FDECE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02920" y="47091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Paradoxe GB :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10312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a la meilleure Accuracy CV mais le pire AUC et le plus fort sur-apprentissage. L'Accuracy n'est pas une métrique suffisante pour évaluer un modèle clinique.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0D1B2A">
              <a:alpha val="40000"/>
            </a:srgbClr>
          </a:solidFill>
          <a:ln w="12700">
            <a:solidFill>
              <a:srgbClr val="0D1B2A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6400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50292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— Jeu de Test Hold-out</a:t>
            </a:r>
            <a:endParaRPr lang="en-US" sz="3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Complets — Jeu de Test (60 observations)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82880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6012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12848" y="960120"/>
            <a:ext cx="82296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40280" y="960120"/>
            <a:ext cx="768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081528" y="960120"/>
            <a:ext cx="91440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960120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41648" y="960120"/>
            <a:ext cx="82296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69080" y="960120"/>
            <a:ext cx="768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910328" y="960120"/>
            <a:ext cx="100584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960120"/>
            <a:ext cx="950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Spécificité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61888" y="960120"/>
            <a:ext cx="73152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960120"/>
            <a:ext cx="676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39128" y="960120"/>
            <a:ext cx="91440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960120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699248" y="960120"/>
            <a:ext cx="73152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26680" y="960120"/>
            <a:ext cx="676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CV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1481328"/>
            <a:ext cx="1828800" cy="566928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1481328"/>
            <a:ext cx="17739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Rég. Logistique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12848" y="1481328"/>
            <a:ext cx="822960" cy="566928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40280" y="1481328"/>
            <a:ext cx="768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0.833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081528" y="1481328"/>
            <a:ext cx="914400" cy="566928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1481328"/>
            <a:ext cx="8595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0.846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041648" y="1481328"/>
            <a:ext cx="822960" cy="566928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69080" y="1481328"/>
            <a:ext cx="768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0.786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10328" y="1481328"/>
            <a:ext cx="1005840" cy="566928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1481328"/>
            <a:ext cx="9509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0.875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61888" y="1481328"/>
            <a:ext cx="731520" cy="566928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89320" y="1481328"/>
            <a:ext cx="6766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0.815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39128" y="1481328"/>
            <a:ext cx="914400" cy="566928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1481328"/>
            <a:ext cx="8595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0.950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699248" y="1481328"/>
            <a:ext cx="731520" cy="566928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26680" y="1481328"/>
            <a:ext cx="6766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+0.080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2103120"/>
            <a:ext cx="1828800" cy="566928"/>
          </a:xfrm>
          <a:prstGeom prst="rect">
            <a:avLst/>
          </a:prstGeom>
          <a:solidFill>
            <a:srgbClr val="FEF9E7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2103120"/>
            <a:ext cx="17739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212848" y="2103120"/>
            <a:ext cx="822960" cy="566928"/>
          </a:xfrm>
          <a:prstGeom prst="rect">
            <a:avLst/>
          </a:prstGeom>
          <a:solidFill>
            <a:srgbClr val="FEF9E7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40280" y="2103120"/>
            <a:ext cx="768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0.883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081528" y="2103120"/>
            <a:ext cx="914400" cy="566928"/>
          </a:xfrm>
          <a:prstGeom prst="rect">
            <a:avLst/>
          </a:prstGeom>
          <a:solidFill>
            <a:srgbClr val="FEF9E7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08960" y="2103120"/>
            <a:ext cx="8595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0.889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041648" y="2103120"/>
            <a:ext cx="822960" cy="566928"/>
          </a:xfrm>
          <a:prstGeom prst="rect">
            <a:avLst/>
          </a:prstGeom>
          <a:solidFill>
            <a:srgbClr val="FEF9E7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69080" y="2103120"/>
            <a:ext cx="768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0.857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910328" y="2103120"/>
            <a:ext cx="1005840" cy="566928"/>
          </a:xfrm>
          <a:prstGeom prst="rect">
            <a:avLst/>
          </a:prstGeom>
          <a:solidFill>
            <a:srgbClr val="FEF9E7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37760" y="2103120"/>
            <a:ext cx="9509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0.906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961888" y="2103120"/>
            <a:ext cx="731520" cy="566928"/>
          </a:xfrm>
          <a:prstGeom prst="rect">
            <a:avLst/>
          </a:prstGeom>
          <a:solidFill>
            <a:srgbClr val="FEF9E7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89320" y="2103120"/>
            <a:ext cx="6766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0.873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739128" y="2103120"/>
            <a:ext cx="914400" cy="566928"/>
          </a:xfrm>
          <a:prstGeom prst="rect">
            <a:avLst/>
          </a:prstGeom>
          <a:solidFill>
            <a:srgbClr val="FEF9E7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66560" y="2103120"/>
            <a:ext cx="8595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0.938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699248" y="2103120"/>
            <a:ext cx="731520" cy="566928"/>
          </a:xfrm>
          <a:prstGeom prst="rect">
            <a:avLst/>
          </a:prstGeom>
          <a:solidFill>
            <a:srgbClr val="FEF9E7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26680" y="2103120"/>
            <a:ext cx="6766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+0.068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20040" y="2724912"/>
            <a:ext cx="1828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7472" y="2724912"/>
            <a:ext cx="17739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212848" y="2724912"/>
            <a:ext cx="822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40280" y="2724912"/>
            <a:ext cx="768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0.817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081528" y="2724912"/>
            <a:ext cx="914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08960" y="2724912"/>
            <a:ext cx="8595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0.815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041648" y="2724912"/>
            <a:ext cx="822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069080" y="2724912"/>
            <a:ext cx="768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0.786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910328" y="2724912"/>
            <a:ext cx="10058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37760" y="2724912"/>
            <a:ext cx="9509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0.844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961888" y="2724912"/>
            <a:ext cx="731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989320" y="2724912"/>
            <a:ext cx="6766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0.800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739128" y="2724912"/>
            <a:ext cx="914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766560" y="2724912"/>
            <a:ext cx="8595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0.905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7699248" y="2724912"/>
            <a:ext cx="731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726680" y="2724912"/>
            <a:ext cx="6766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+0.043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20040" y="3346704"/>
            <a:ext cx="1828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47472" y="3346704"/>
            <a:ext cx="17739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Dummy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2212848" y="3346704"/>
            <a:ext cx="822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240280" y="3346704"/>
            <a:ext cx="768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0.533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3081528" y="3346704"/>
            <a:ext cx="914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108960" y="3346704"/>
            <a:ext cx="8595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0.000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041648" y="3346704"/>
            <a:ext cx="822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069080" y="3346704"/>
            <a:ext cx="768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0.000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4910328" y="3346704"/>
            <a:ext cx="10058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937760" y="3346704"/>
            <a:ext cx="9509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1.000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5961888" y="3346704"/>
            <a:ext cx="731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989320" y="3346704"/>
            <a:ext cx="6766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0.000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6739128" y="3346704"/>
            <a:ext cx="914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766560" y="3346704"/>
            <a:ext cx="8595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0.500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7699248" y="3346704"/>
            <a:ext cx="731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726680" y="3346704"/>
            <a:ext cx="6766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0.000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320040" y="4114800"/>
            <a:ext cx="8458200" cy="77724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5" name="Text 83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meilleur Recall (0.857) → dépistage    |    LogReg meilleur ROC-AUC (0.950) → compromis global    |    GB en retrait sur toutes les métriques</a:t>
            </a:r>
            <a:endParaRPr lang="en-US" sz="11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Matrices de Confusion — Comparaison des 4 Modèles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4206240" cy="347472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Dummy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325880"/>
            <a:ext cx="1645920" cy="5943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258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VP: 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68880" y="1325880"/>
            <a:ext cx="1645920" cy="5943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3258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FN: 28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011680"/>
            <a:ext cx="1645920" cy="5943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0116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FP: 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468880" y="2011680"/>
            <a:ext cx="1645920" cy="5943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20116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VN: 32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91440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914400"/>
            <a:ext cx="4206240" cy="3474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120640" y="1325880"/>
            <a:ext cx="1645920" cy="5943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13258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VP: 22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949440" y="1325880"/>
            <a:ext cx="1645920" cy="5943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13258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FN: 6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120640" y="2011680"/>
            <a:ext cx="1645920" cy="5943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20116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FP: 6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949440" y="2011680"/>
            <a:ext cx="1645920" cy="5943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20116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VN: 26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292608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2926080"/>
            <a:ext cx="4206240" cy="3474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9260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Bayes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3337560"/>
            <a:ext cx="1645920" cy="5943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3375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VP: 24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468880" y="3337560"/>
            <a:ext cx="1645920" cy="5943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68880" y="33375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FN: 4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4023360"/>
            <a:ext cx="1645920" cy="5943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0233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FP: 3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468880" y="4023360"/>
            <a:ext cx="1645920" cy="5943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68880" y="40233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VN: 29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846320" y="292608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46320" y="2926080"/>
            <a:ext cx="4206240" cy="347472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29260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Rég. Logistique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120640" y="3337560"/>
            <a:ext cx="1645920" cy="5943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20640" y="33375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VP: 22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949440" y="3337560"/>
            <a:ext cx="1645920" cy="5943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9440" y="33375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FN: 6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120640" y="4023360"/>
            <a:ext cx="1645920" cy="5943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0" y="40233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FP: 4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949440" y="4023360"/>
            <a:ext cx="1645920" cy="5943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49440" y="40233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VN: 28</a:t>
            </a:r>
            <a:endParaRPr lang="en-US" sz="13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Critique — Faux Négatifs vs Faux Positifs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dépistage : chaque FN = un patient malade NON détecté → risque vital. Minimiser les FN est la priorité.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72768"/>
            <a:ext cx="1737360" cy="7132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72768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Bayes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MEILLEUR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94560" y="160934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: 4 / 28 malades = 14.3% non détectés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94560" y="195681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: 3 patients sains classés malades (examens supplémentaires)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92240" y="1682496"/>
            <a:ext cx="326571" cy="4572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64531" y="170992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14.3%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37744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377440"/>
            <a:ext cx="1737360" cy="713232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377440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Rég. Logistique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94560" y="241401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: 6 / 28 malades = 21.4% non détectés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94560" y="276148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: 4 patients sains classés malades (examens supplémentaires)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92240" y="2487168"/>
            <a:ext cx="489857" cy="4572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27817" y="25146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21.4%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182112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182112"/>
            <a:ext cx="1737360" cy="71323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182112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94560" y="32186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: 6 / 28 malades = 21.4% non détectés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194560" y="35661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: 6 patients sains classés malades (examens supplémentaires)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92240" y="3291840"/>
            <a:ext cx="489857" cy="4572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27817" y="331927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21.4%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986784"/>
            <a:ext cx="1737360" cy="7132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986784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Dummy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INUTILE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194560" y="4023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: 28 / 28 malades = 100.0% non détectés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194560" y="437083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: 0 patients sains classés malades (examens supplémentaires)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92240" y="4096512"/>
            <a:ext cx="2286000" cy="4572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23960" y="4123944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11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Courbes ROC — Comparaison des Discriminants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7548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Courbe ROC (schéma)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4572000"/>
            <a:ext cx="4114800" cy="0"/>
          </a:xfrm>
          <a:prstGeom prst="line">
            <a:avLst/>
          </a:prstGeom>
          <a:noFill/>
          <a:ln w="19050">
            <a:solidFill>
              <a:srgbClr val="1C28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417320"/>
            <a:ext cx="0" cy="3154680"/>
          </a:xfrm>
          <a:prstGeom prst="line">
            <a:avLst/>
          </a:prstGeom>
          <a:noFill/>
          <a:ln w="19050">
            <a:solidFill>
              <a:srgbClr val="1C28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4663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FPR (1−Spécificité)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651760"/>
            <a:ext cx="365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TPR (Recall)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4572000"/>
            <a:ext cx="4114800" cy="-3154680"/>
          </a:xfrm>
          <a:prstGeom prst="line">
            <a:avLst/>
          </a:prstGeom>
          <a:noFill/>
          <a:ln w="12700">
            <a:solidFill>
              <a:srgbClr val="5D6D7E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822960" y="4572000"/>
            <a:ext cx="205740" cy="-2208276"/>
          </a:xfrm>
          <a:prstGeom prst="line">
            <a:avLst/>
          </a:prstGeom>
          <a:noFill/>
          <a:ln w="31750">
            <a:solidFill>
              <a:srgbClr val="1B4F7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8700" y="2363724"/>
            <a:ext cx="205740" cy="-473202"/>
          </a:xfrm>
          <a:prstGeom prst="line">
            <a:avLst/>
          </a:prstGeom>
          <a:noFill/>
          <a:ln w="31750">
            <a:solidFill>
              <a:srgbClr val="1B4F7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34440" y="1890522"/>
            <a:ext cx="411480" cy="-252374"/>
          </a:xfrm>
          <a:prstGeom prst="line">
            <a:avLst/>
          </a:prstGeom>
          <a:noFill/>
          <a:ln w="31750">
            <a:solidFill>
              <a:srgbClr val="1B4F7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45920" y="1638148"/>
            <a:ext cx="3291840" cy="-220828"/>
          </a:xfrm>
          <a:prstGeom prst="line">
            <a:avLst/>
          </a:prstGeom>
          <a:noFill/>
          <a:ln w="31750">
            <a:solidFill>
              <a:srgbClr val="1B4F7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572000"/>
            <a:ext cx="288036" cy="-2050542"/>
          </a:xfrm>
          <a:prstGeom prst="line">
            <a:avLst/>
          </a:prstGeom>
          <a:noFill/>
          <a:ln w="31750">
            <a:solidFill>
              <a:srgbClr val="1E844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996" y="2521458"/>
            <a:ext cx="329184" cy="-536296"/>
          </a:xfrm>
          <a:prstGeom prst="line">
            <a:avLst/>
          </a:prstGeom>
          <a:noFill/>
          <a:ln w="31750">
            <a:solidFill>
              <a:srgbClr val="1E844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180" y="1985162"/>
            <a:ext cx="411480" cy="-252374"/>
          </a:xfrm>
          <a:prstGeom prst="line">
            <a:avLst/>
          </a:prstGeom>
          <a:noFill/>
          <a:ln w="31750">
            <a:solidFill>
              <a:srgbClr val="1E844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51660" y="1732788"/>
            <a:ext cx="3086100" cy="-315468"/>
          </a:xfrm>
          <a:prstGeom prst="line">
            <a:avLst/>
          </a:prstGeom>
          <a:noFill/>
          <a:ln w="31750">
            <a:solidFill>
              <a:srgbClr val="1E844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572000"/>
            <a:ext cx="411480" cy="-1735074"/>
          </a:xfrm>
          <a:prstGeom prst="line">
            <a:avLst/>
          </a:prstGeom>
          <a:noFill/>
          <a:ln w="31750">
            <a:solidFill>
              <a:srgbClr val="F39C1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34440" y="2836926"/>
            <a:ext cx="411480" cy="-630936"/>
          </a:xfrm>
          <a:prstGeom prst="line">
            <a:avLst/>
          </a:prstGeom>
          <a:noFill/>
          <a:ln w="31750">
            <a:solidFill>
              <a:srgbClr val="F39C1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45920" y="2205990"/>
            <a:ext cx="411480" cy="-378562"/>
          </a:xfrm>
          <a:prstGeom prst="line">
            <a:avLst/>
          </a:prstGeom>
          <a:noFill/>
          <a:ln w="31750">
            <a:solidFill>
              <a:srgbClr val="F39C1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57400" y="1827428"/>
            <a:ext cx="2880360" cy="-410108"/>
          </a:xfrm>
          <a:prstGeom prst="line">
            <a:avLst/>
          </a:prstGeom>
          <a:noFill/>
          <a:ln w="31750">
            <a:solidFill>
              <a:srgbClr val="F39C1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57800" y="914400"/>
            <a:ext cx="35204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349240" y="96012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AUC (test)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349240" y="1417320"/>
            <a:ext cx="3291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349240" y="1417320"/>
            <a:ext cx="9144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32120" y="145389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Rég. Logistique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32120" y="18105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0.950 — Meilleur discriminant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349240" y="2286000"/>
            <a:ext cx="3291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349240" y="2286000"/>
            <a:ext cx="91440" cy="7498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32120" y="232257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32120" y="26791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0.938 — Très proche LogReg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349240" y="3154680"/>
            <a:ext cx="3291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349240" y="3154680"/>
            <a:ext cx="91440" cy="7498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32120" y="319125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532120" y="35478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0.905 — En retrait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349240" y="4023360"/>
            <a:ext cx="3291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349240" y="4023360"/>
            <a:ext cx="91440" cy="749808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32120" y="405993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Dummy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532120" y="44165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0.500 — Aléatoire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5760" y="50292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différence LogReg/NB est faible → choix final dépend des priorités cliniques.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la courbe est proche du coin supérieur gauche, meilleure est la discrimination.</a:t>
            </a:r>
            <a:endParaRPr lang="en-US" sz="10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Rapports de Classification — Focus Classe 1 (Présence de Maladie)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classe 1 (présence de maladie) est la classe d'intérêt en dépistage — ses métriques sont les plus critiques.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2194560" cy="411480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508760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51760" y="1508760"/>
            <a:ext cx="1554480" cy="411480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88336" y="1508760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Cl.1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51960" y="1508760"/>
            <a:ext cx="1554480" cy="411480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88536" y="1508760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Cl.1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1508760"/>
            <a:ext cx="1280160" cy="411480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88736" y="1508760"/>
            <a:ext cx="12070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Cl.1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223760" y="1508760"/>
            <a:ext cx="1554480" cy="411480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60336" y="1508760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1984248"/>
            <a:ext cx="2194560" cy="566928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1984248"/>
            <a:ext cx="21214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51760" y="1984248"/>
            <a:ext cx="1554480" cy="566928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88336" y="1984248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0.889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51960" y="1984248"/>
            <a:ext cx="1554480" cy="566928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88536" y="1984248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8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0.857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52160" y="1984248"/>
            <a:ext cx="1280160" cy="566928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88736" y="1984248"/>
            <a:ext cx="12070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0.873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223760" y="1984248"/>
            <a:ext cx="1554480" cy="566928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60336" y="1984248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0.938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2624328"/>
            <a:ext cx="2194560" cy="566928"/>
          </a:xfrm>
          <a:prstGeom prst="rect">
            <a:avLst/>
          </a:prstGeom>
          <a:solidFill>
            <a:srgbClr val="FEF9E7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" y="2624328"/>
            <a:ext cx="21214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Rég. Logistique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651760" y="2624328"/>
            <a:ext cx="1554480" cy="566928"/>
          </a:xfrm>
          <a:prstGeom prst="rect">
            <a:avLst/>
          </a:prstGeom>
          <a:solidFill>
            <a:srgbClr val="FEF9E7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88336" y="2624328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0.846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251960" y="2624328"/>
            <a:ext cx="1554480" cy="566928"/>
          </a:xfrm>
          <a:prstGeom prst="rect">
            <a:avLst/>
          </a:prstGeom>
          <a:solidFill>
            <a:srgbClr val="FEF9E7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88536" y="2624328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0.786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852160" y="2624328"/>
            <a:ext cx="1280160" cy="566928"/>
          </a:xfrm>
          <a:prstGeom prst="rect">
            <a:avLst/>
          </a:prstGeom>
          <a:solidFill>
            <a:srgbClr val="FEF9E7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88736" y="2624328"/>
            <a:ext cx="12070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0.815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223760" y="2624328"/>
            <a:ext cx="1554480" cy="566928"/>
          </a:xfrm>
          <a:prstGeom prst="rect">
            <a:avLst/>
          </a:prstGeom>
          <a:solidFill>
            <a:srgbClr val="FEF9E7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0336" y="2624328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8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0.950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65760" y="3264408"/>
            <a:ext cx="2194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2336" y="3264408"/>
            <a:ext cx="21214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651760" y="3264408"/>
            <a:ext cx="1554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88336" y="3264408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0.815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251960" y="3264408"/>
            <a:ext cx="1554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88536" y="3264408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0.786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852160" y="3264408"/>
            <a:ext cx="1280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88736" y="3264408"/>
            <a:ext cx="12070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0.800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223760" y="3264408"/>
            <a:ext cx="1554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60336" y="3264408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0.905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65760" y="3547872"/>
            <a:ext cx="8412480" cy="64008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02920" y="3593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: Recall = 0.857 ← meilleur (4 FN sur 28 positifs — 14.3% de malades manqués)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02920" y="38862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LogReg : Recall = 0.786 (6 FN) — mais meilleur ROC-AUC global (0.950) et meilleur Brier score (0.094)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365760" y="4315968"/>
            <a:ext cx="8412480" cy="594360"/>
          </a:xfrm>
          <a:prstGeom prst="rect">
            <a:avLst/>
          </a:prstGeom>
          <a:solidFill>
            <a:srgbClr val="FDECE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02920" y="43616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Recall de la classe 1 est la métrique la plus critique pour le dépistage cardiaque. Chaque point de Recall représente des vies potentiellement sauvées.</a:t>
            </a:r>
            <a:endParaRPr lang="en-US" sz="11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Importance des Variables — GB vs Régression Logistique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4114800" cy="38404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GB Feature Importance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80160" y="1371600"/>
            <a:ext cx="700888" cy="47548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26768" y="1371600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0.219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280160" y="2029968"/>
            <a:ext cx="662483" cy="47548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29968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88363" y="2029968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280160" y="2688336"/>
            <a:ext cx="396850" cy="47548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88336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22730" y="2688336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280160" y="3346704"/>
            <a:ext cx="361645" cy="47548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46704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87525" y="3346704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280160" y="4005072"/>
            <a:ext cx="304038" cy="47548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005072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oldpeak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29918" y="4005072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914400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914400"/>
            <a:ext cx="4114800" cy="38404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91440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LogReg |Coefficients|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74920" y="1371600"/>
            <a:ext cx="2365096" cy="47548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1371600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85736" y="1371600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0.739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74920" y="2029968"/>
            <a:ext cx="1625803" cy="47548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2029968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46443" y="2029968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0.508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74920" y="2688336"/>
            <a:ext cx="3065983" cy="47548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2688336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86623" y="2688336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0.958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74920" y="3346704"/>
            <a:ext cx="118415" cy="47548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3346704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39055" y="3346704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0.037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074920" y="4005072"/>
            <a:ext cx="1420978" cy="47548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4005072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oldpeak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541618" y="4005072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0.444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5166360"/>
            <a:ext cx="8412480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65760" y="50017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récurrentes dans les 2 modèles : thal, cp, ca → convergence rassurante des deux approches.  |  age importante pour GB mais pas LogReg → interaction non-linéaire captée par les arbres.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Cohérence CV–Test : Les Deltas &amp; Fiabilité du Protocole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Δ positifs (0.043 → 0.080) indiquent que les performances test sont légèrement supérieures aux estimations CV — variabilité du petit échantillon test (60 obs.).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8412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72768"/>
            <a:ext cx="2011680" cy="8961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72768"/>
            <a:ext cx="19202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Bayes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14600" y="16642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AUC : 0.870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14600" y="20299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AUC : 0.938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70992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= +0.068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858000" y="18013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71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 en CV &amp; Test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578608"/>
            <a:ext cx="8412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578608"/>
            <a:ext cx="2011680" cy="8961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578608"/>
            <a:ext cx="19202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Rég. Logistique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14600" y="26700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AUC : 0.869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14600" y="30358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AUC : 0.950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271576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= +0.080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58000" y="28072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71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#2 en CV &amp; Test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584448"/>
            <a:ext cx="8412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584448"/>
            <a:ext cx="2011680" cy="8961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584448"/>
            <a:ext cx="19202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14600" y="36758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AUC : 0.862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14600" y="40416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AUC : 0.905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0" y="372160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= +0.043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58000" y="38130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71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#3 en CV &amp; Test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rang est préservé entre CV et test : NB et LogReg dominent dans les deux évaluations. La cohérence des rangs est un signal fort de fiabilité du protocole expérimental.</a:t>
            </a:r>
            <a:endParaRPr lang="en-US" sz="11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0D1B2A">
              <a:alpha val="40000"/>
            </a:srgbClr>
          </a:solidFill>
          <a:ln w="12700">
            <a:solidFill>
              <a:srgbClr val="0D1B2A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6400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50292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Critique Avancée</a:t>
            </a:r>
            <a:endParaRPr lang="en-US" sz="3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 des Probabilités — Courbes &amp; Brier Scores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Brier Score = (1/n) Σᵢ (p̂ᵢ − yᵢ)²     Brier ∈ [0, 1] — 0 = parfait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64208"/>
            <a:ext cx="8412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64208"/>
            <a:ext cx="109728" cy="89611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70078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Rég. Logistique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207568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— Meilleur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1773936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0.094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251960" y="1773936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Probabilités bien calibrées. Un score de 0.7 correspond à ~70% de vrais positifs dans ce groupe.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670048"/>
            <a:ext cx="8412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670048"/>
            <a:ext cx="109728" cy="896112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70662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71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Bayes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308152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— Très proche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2779776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471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0.098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251960" y="2779776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Légèrement moins calibré mais très compétitif. L'indépendance naïve n'affecte pas trop la calibration.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675888"/>
            <a:ext cx="8412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675888"/>
            <a:ext cx="109728" cy="89611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71246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408736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— Moins bon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17520" y="3785616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0.128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251960" y="3785616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Probabilités moins bien calibrées. Lié au sur-apprentissage. Les probabilités GB sont moins fiables pour des décisions à seuil variable.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clinique, un modèle bien calibré permet de dire au médecin : 'Ce patient a 70% de risque de maladie cardiaque' avec confiance → crucial pour la décision thérapeutique.</a:t>
            </a:r>
            <a:endParaRPr lang="en-US" sz="11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Optimisation Exploratoire du Seuil de Décision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défaut : seuil t = 0.5  →  si p̂ ≥ 0.5, prédit positif. L'optimisation du seuil modifie ce compromis Précision/Recall.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4114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54480"/>
            <a:ext cx="4114800" cy="38404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544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Procédure d'optimisation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384048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les probabilités p̂ sur le test
</a:t>
            </a:r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 la courbe Précision vs Recall pour t ∈ [0, 1]
</a:t>
            </a:r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Trouver t* qui maximise le Recall
   avec Précision encore acceptable
</a:t>
            </a:r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pour Naive Bayes :
   t* = 0.151 (vs t=0.5 par défaut)
</a:t>
            </a:r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 : à t=0.151, NB classe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positive toute probabilité &gt; 15.1%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554480"/>
            <a:ext cx="4114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554480"/>
            <a:ext cx="411480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5544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 Mise en Garde Obligatoire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2011680"/>
            <a:ext cx="384048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seuil est ajusté sur le jeu de test actuel
→ Analyse EXPLORATOIRE uniquement.
</a:t>
            </a:r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une estimation non biaisée :
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Fixer le seuil sur un ensemble de VALIDATION séparé
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Évaluer la performance sur un TEST externe indépendant
</a:t>
            </a:r>
            <a:pPr indent="0" marL="0">
              <a:spcAft>
                <a:spcPts val="500"/>
              </a:spcAft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cette précaution, le seuil optimisé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 être trop optimiste (sélection sur le test).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9194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Distinction fondamentale : ROC-AUC = qualité du classement (indépendant du seuil). Seuil optimisé = choix de la décision clinique (dépend du contexte et des priorités).</a:t>
            </a:r>
            <a:endParaRPr lang="en-US" sz="10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Courbes d'Apprentissage — Diagnostic Biais-Variance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 S_train(n) − S_val(n) → 0 quand n → ∞ : le modèle ne sur-apprend pas.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8412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72768"/>
            <a:ext cx="109728" cy="89611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60934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Bayes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24912" y="1627632"/>
            <a:ext cx="1463040" cy="3474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24912" y="16276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97680" y="1664208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et validation convergent rapidement. Le gap diminue avec plus de données. Bon compromis biais-variance. Le modèle n'a pas besoin de plus de données pour améliorer sa généralisation.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578608"/>
            <a:ext cx="8412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578608"/>
            <a:ext cx="109728" cy="896112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61518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71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Rég. Logistique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24912" y="2633472"/>
            <a:ext cx="1463040" cy="347472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24912" y="263347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297680" y="2670048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profil que NB. Convergence des courbes train/validation. La régularisation L2 contrôle efficacement la complexité. Stable et prévisible.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584448"/>
            <a:ext cx="8412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584448"/>
            <a:ext cx="109728" cy="89611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62102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24912" y="3639312"/>
            <a:ext cx="1463040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24912" y="363931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PERSISTANT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297680" y="3675888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gap train/validation PERSISTE même avec plus de données → sur-apprentissage structurel. Le modèle continue à mémoriser le train sans améliorer la validation. Signal de complexité excessive.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et LogReg convergent → profil adapté à ce petit dataset (237 train). GB gap persistant → preuve #2 du sur-apprentissage structurel.</a:t>
            </a:r>
            <a:endParaRPr lang="en-US" sz="11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Synthèse — 3 Preuves Convergentes du Sur-apprentissage de GB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diagnostic de sur-apprentissage de Gradient Boosting est robuste car soutenu par 3 évidences indépendantes et convergentes.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8412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72768"/>
            <a:ext cx="914400" cy="89611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72768"/>
            <a:ext cx="9144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Preuve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89888" y="1609344"/>
            <a:ext cx="7223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Gap élevé (Section F)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89888" y="1938528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 CV gap = 0.138 &gt;&gt; NB = 0.031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89888" y="2194560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perform bien sur le train mais mal en validation cross → mémorisation. NB et LogReg ont des gaps 3-5× plus faibles.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578608"/>
            <a:ext cx="8412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578608"/>
            <a:ext cx="914400" cy="89611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578608"/>
            <a:ext cx="9144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Preuve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89888" y="2615184"/>
            <a:ext cx="7223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Curves divergentes (Section H)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89888" y="2944368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 train/validation persiste quand n augmente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89888" y="3200400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NB et LogReg, les courbes convergent. Pour GB, le gap reste élevé même avec plus de données → sur-apprentissage structurel.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584448"/>
            <a:ext cx="8412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584448"/>
            <a:ext cx="914400" cy="896112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584448"/>
            <a:ext cx="9144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Preuve 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89888" y="3621024"/>
            <a:ext cx="7223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71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Performances Test en retrait (Section G)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89888" y="3950208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 test AUC = 0.905 vs NB = 0.938 et LogReg = 0.950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89888" y="4206240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Malgré des performances CV correctes, GB est le dernier sur le test. Cohérent avec un modèle qui généralise mal.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: Naive Bayes et Régression Logistique ont un profil plus adapté à ce petit dataset (297 observations).</a:t>
            </a:r>
            <a:endParaRPr lang="en-US" sz="11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de l'Étude — Transparence &amp; Honnêteté Scientifique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109728" cy="11887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0584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Taille du dataset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297 observations, 60 en test → estimations sujettes à forte variabilité statistique. Les intervalles de confiance des métriques sont larges.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960120"/>
            <a:ext cx="109728" cy="11887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47488" y="100584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Absence de validation externe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47488" y="137160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résultats proviennent d'un seul dataset (Cleveland). La généralisation à d'autres populations n'est pas garantie.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86000"/>
            <a:ext cx="109728" cy="118872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33172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71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 de tuning hyperparamètres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269748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GridSearchCV ni RandomizedSearchCV. Les performances, notamment GB, pourraient être améliorées avec un tuning systématique.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228600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286000"/>
            <a:ext cx="109728" cy="11887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47488" y="233172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Seuil exploratoire biaisé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47488" y="269748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seuil optimisé (t*=0.151) est ajusté sur le test → estimation optimiste. Nécessite une validation externe pour être fiable.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61188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611880"/>
            <a:ext cx="109728" cy="1188720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65760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D6D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Hypothèses modèles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" y="402336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Indépendance NB violée (features corrélées). Linéarité LogReg potentiellement limitante pour capturer les interactions complexes.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361188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3611880"/>
            <a:ext cx="109728" cy="1188720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365760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D6D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Absence de tests statistiques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47488" y="402336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différence entre modèles n'est pas testée formellement (McNemar non implémenté). On ne peut pas conclure à une différence significative.</a:t>
            </a:r>
            <a:endParaRPr lang="en-US" sz="10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Validité &amp; Reproductibilité du Protocole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109728" cy="11887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0584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Reproductibilité garantie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random_state=42 partout → résultats identiques à chaque exécution du notebook. Science ouverte et vérifiable.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960120"/>
            <a:ext cx="109728" cy="11887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47488" y="100584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Pipeline sans data leakage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47488" y="137160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intégré dans sklearn.Pipeline → la moyenne et l'écart-type du train ne contaminent pas les données de test.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86000"/>
            <a:ext cx="109728" cy="11887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33172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Baseline Dummy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269748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réel mesuré, non trivial — tous les modèles battent la baseline sur toutes les métriques pertinentes.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228600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286000"/>
            <a:ext cx="109728" cy="11887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47488" y="233172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CV stratifiée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47488" y="269748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Proportions de classes préservées dans chaque fold → estimations stables sur ce dataset déséquilibré à 54/46.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61188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611880"/>
            <a:ext cx="109728" cy="11887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65760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Métriques complémentaires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" y="402336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+ Recall + Précision + F1 + ROC-AUC + Brier score → vision complète, pas de biais vers une seule métrique.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361188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3611880"/>
            <a:ext cx="109728" cy="118872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365760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71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Règles d'or respectées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47488" y="402336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chiffre annoncé absent du notebook. Aucun tableau incomplet. Chaque méthode non implémentée signalée explicitement.</a:t>
            </a:r>
            <a:endParaRPr lang="en-US" sz="10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0D1B2A">
              <a:alpha val="40000"/>
            </a:srgbClr>
          </a:solidFill>
          <a:ln w="12700">
            <a:solidFill>
              <a:srgbClr val="0D1B2A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6400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50292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Recommandations</a:t>
            </a:r>
            <a:endParaRPr lang="en-US" sz="30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 Opérationnelle — Par Scénario d'Usage Clinique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4114800" cy="47548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SCÉNARIO 1 — Dépistage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NAIVE BAYES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384048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= 0.857 :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seulement 4 FN sur 28 malades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0.873 :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meilleur compromis sur le test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gap = 0.031 :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très robuste, pas de sur-apprentissage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= 0.098 :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bien calibré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Rapide :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utilisable en temps réel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14.3% des malades manqués
</a:t>
            </a:r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21.4% pour LogReg et GB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914400"/>
            <a:ext cx="4114800" cy="475488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91440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SCÉNARIO 2 — Compromis Global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0" y="14630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71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RÉGRESSION LOGISTIQUE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00600" y="2057400"/>
            <a:ext cx="384048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= 0.950 :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meilleur discriminant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= 0.094 :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meilleure calibration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βⱼ :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interprétables pour le médecin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gap = 0.047 :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compromis correct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directe :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'ca augmente le risque de 0.958 logit'
</a:t>
            </a:r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communicable au clinicien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5029200"/>
            <a:ext cx="8412480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Gradient Boosting : NON RECOMMANDÉ en l'état — sur-apprentissage démontré par 3 preuves. Pourrait bénéficier d'un tuning d'hyperparamètres (non implémenté).</a:t>
            </a:r>
            <a:endParaRPr lang="en-US" sz="10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 — Extensions Non Implémentées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109728" cy="8961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996696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Tuning global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" y="136245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/ RandomizedSearchCV pour tous les modèles — potentiel d'amélioration significatif pour GB.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960120"/>
            <a:ext cx="109728" cy="8961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47488" y="996696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externe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47488" y="136245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sur d'autres cohortes UCI (Hungarian, Swiss, VA) pour vérifier la généralisation.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1965960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965960"/>
            <a:ext cx="109728" cy="89611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002536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 post-hoc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236829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 scaling (régression logistique sur les scores) ou isotonic regression pour améliorer les Brier scores.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1965960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965960"/>
            <a:ext cx="109728" cy="89611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47488" y="2002536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Elastic Net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47488" y="236829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Pénalité α·L1 + (1−α)·L2 pour combiner sélection de features (L1) et stabilité (L2) — non directement applicable ici.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971800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971800"/>
            <a:ext cx="109728" cy="89611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008376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 statistiques formels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" y="337413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 McNemar pour comparer formellement les classifieurs. Actuellement, les différences ne sont pas testées statistiquement.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2971800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971800"/>
            <a:ext cx="109728" cy="89611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3008376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 values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47488" y="337413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Explicabilité individuelle — comprendre pourquoi un patient spécifique est classé positif. Crucial pour l'acceptation clinique.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977640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977640"/>
            <a:ext cx="109728" cy="896112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4014216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71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répétée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66928" y="437997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répété (ex: 10 répétitions × 5 folds) pour des estimations plus stables sur ce petit dataset.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46320" y="3977640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3977640"/>
            <a:ext cx="109728" cy="896112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47488" y="4014216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71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&amp; Random Forest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047488" y="437997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les extensions régularisées du boosting (XGBoost) et le bagging (RF) pour comparaison complète.</a:t>
            </a:r>
            <a:endParaRPr lang="en-US" sz="10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1B4F72">
              <a:alpha val="30000"/>
            </a:srgbClr>
          </a:solidFill>
          <a:ln w="12700">
            <a:solidFill>
              <a:srgbClr val="1B4F72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ED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Réponses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8229600" cy="5943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73352"/>
            <a:ext cx="804672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"Naive Bayes pour dépister · Régression Logistique pour décider · Gradient Boosting à éviter sans tuning."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37744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Fondation présentée : ID3 / C4.5 / CART (socle théorique des arbres faibles de GB)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88036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XGBoost présenté comme extension théorique — NON implémenté dans main.ipynb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3832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preuves convergentes du sur-apprentissage de GB : CV gap + learning curves + performances test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388620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Distinction ROC-AUC (classement) vs seuil (décision clinique) maintenue tout au long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4434840"/>
            <a:ext cx="8229600" cy="502920"/>
          </a:xfrm>
          <a:prstGeom prst="rect">
            <a:avLst/>
          </a:prstGeom>
          <a:solidFill>
            <a:srgbClr val="2471A3">
              <a:alpha val="70000"/>
            </a:srgbClr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46227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de backup disponibles : définitions, justifications, méthodologie complète, analyse critique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Classification de Maladies Cardiaques</dc:title>
  <dc:subject>PptxGenJS Presentation</dc:subject>
  <dc:creator>Projet Machine Learning</dc:creator>
  <cp:lastModifiedBy>Projet Machine Learning</cp:lastModifiedBy>
  <cp:revision>1</cp:revision>
  <dcterms:created xsi:type="dcterms:W3CDTF">2026-04-20T21:54:38Z</dcterms:created>
  <dcterms:modified xsi:type="dcterms:W3CDTF">2026-04-20T21:54:38Z</dcterms:modified>
</cp:coreProperties>
</file>